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A8797728-6DCD-4E91-D326-DF8DBAAD2E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id-ID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06DF4CB-D2FD-900E-9796-9471B4006E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DD9517C-0B2B-4602-850F-1C52E7BDAD68}" type="datetimeFigureOut">
              <a:rPr lang="en-US" altLang="id-ID"/>
              <a:pPr>
                <a:defRPr/>
              </a:pPr>
              <a:t>5/16/2026</a:t>
            </a:fld>
            <a:endParaRPr lang="en-US" altLang="id-ID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458308B3-23A9-6EAE-FCF4-2157002BBB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id-ID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B197EBE1-77B5-28C7-7042-37190D80042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84BF873-4690-4105-95F7-707EF2186CD6}" type="slidenum">
              <a:rPr lang="en-US" altLang="id-ID"/>
              <a:pPr/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CC26E8-895A-E2C1-F94F-253935D8FA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8C306A5-924D-59EC-2E8E-B5A14973D7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5F1EC70-423C-1007-070B-A461713B847F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D047B7C-8C02-4959-4D5E-7DC1C50EC4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0ACB01D-5B02-8701-0DB4-733689D1211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692C941-BC82-B76A-10DF-42DA0F0C09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B76184B-3A51-42D8-BBC2-213FC0280568}" type="slidenum">
              <a:rPr lang="en-US" altLang="id-ID"/>
              <a:pPr/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1FB98DF-9B89-8C57-83B4-C5C5EA00AE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C29C2B-5E3D-4E6B-9A18-D3DDF66A977D}" type="slidenum">
              <a:rPr lang="en-US" altLang="id-ID"/>
              <a:pPr/>
              <a:t>1</a:t>
            </a:fld>
            <a:endParaRPr lang="en-US" altLang="id-ID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D80A756-48DB-DAD4-7D7E-FCC830207B5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8433086-DE15-3235-21A3-5E597A675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211A8EF3-4110-9750-0F63-5A98AF8167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23CA36-B216-4958-8DFC-5455EF924C96}" type="slidenum">
              <a:rPr lang="en-US" altLang="id-ID"/>
              <a:pPr/>
              <a:t>2</a:t>
            </a:fld>
            <a:endParaRPr lang="en-US" altLang="id-ID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3C44DDB-4C4D-11C6-635D-6AE67F226F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668B810-056F-CFD2-AE42-E31EAFC40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309F7608-9F43-5769-D389-DA3F281BAA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F07D31-D5F4-4D16-98AA-25388F3EDB2E}" type="slidenum">
              <a:rPr lang="en-US" altLang="id-ID"/>
              <a:pPr/>
              <a:t>3</a:t>
            </a:fld>
            <a:endParaRPr lang="en-US" altLang="id-ID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E83DC6B-7BF2-CC16-44EF-802ADCFFBA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BDCF667-72F7-E58D-68C2-D63D432BE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35A5549E-B975-873D-9E3D-60EAE8FA2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FBBE98-C4EB-468F-B3D5-04498E8401A5}" type="slidenum">
              <a:rPr lang="en-US" altLang="id-ID"/>
              <a:pPr/>
              <a:t>4</a:t>
            </a:fld>
            <a:endParaRPr lang="en-US" altLang="id-ID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B6A84F7-C739-F803-6123-0251C22EDB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6B305A2-DE97-8BA7-4391-63904689B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61F0E4D4-6A2B-F7D4-7824-46622ABC4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4A6695-D759-43E0-BD71-A3D36162C84F}" type="slidenum">
              <a:rPr lang="en-US" altLang="id-ID"/>
              <a:pPr/>
              <a:t>5</a:t>
            </a:fld>
            <a:endParaRPr lang="en-US" altLang="id-ID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EF650E4-E166-522B-0FF1-5655B61641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F40AE41-CCDD-2890-D81C-423E576AE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951D00A7-B3C6-AF17-9252-AE20EC67E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D837DE-A115-4169-9BD2-DC4FFBAF7AFE}" type="slidenum">
              <a:rPr lang="en-US" altLang="id-ID"/>
              <a:pPr/>
              <a:t>6</a:t>
            </a:fld>
            <a:endParaRPr lang="en-US" altLang="id-ID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74528B9-4DF8-4F09-FAEB-95FA803679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014E4AC-2148-CDAD-E9F0-EEA8CAD44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A528CE3-9B74-9FAF-3D9E-F7992C5FFC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4C56FC-841B-4174-AF17-EED35F05948D}" type="slidenum">
              <a:rPr lang="en-US" altLang="id-ID"/>
              <a:pPr/>
              <a:t>7</a:t>
            </a:fld>
            <a:endParaRPr lang="en-US" altLang="id-ID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3F2FE90-F003-164E-17E8-607341B518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EDFCD00-2300-AF9F-AAE0-AD89746F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995DD7D6-A21A-E9AB-7D41-DADB53A361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CE4B31-A086-47C8-BADE-318E8A9C00AD}" type="slidenum">
              <a:rPr lang="en-US" altLang="id-ID"/>
              <a:pPr/>
              <a:t>8</a:t>
            </a:fld>
            <a:endParaRPr lang="en-US" altLang="id-ID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80571B1-81BC-7209-027E-7B83FC40DC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1D1E12A-1E1E-1ED3-C9D9-897607644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51B3B68-184F-DF4E-1DDA-ABE7C736D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D11B83-7AF3-4DDF-9132-D855DAA2FE5B}" type="slidenum">
              <a:rPr lang="en-US" altLang="id-ID"/>
              <a:pPr/>
              <a:t>9</a:t>
            </a:fld>
            <a:endParaRPr lang="en-US" altLang="id-ID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F8453A6-24B7-356A-0CD1-70C6F3111F9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39615B4-3BE0-C9D3-40D5-F55C5BCB3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D02E4330-AC2E-95A4-E6A3-FDEDE6F2F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07CFC2-FC5B-4987-AAC7-48FE93CEAC81}" type="slidenum">
              <a:rPr lang="en-US" altLang="id-ID"/>
              <a:pPr/>
              <a:t>10</a:t>
            </a:fld>
            <a:endParaRPr lang="en-US" altLang="id-ID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467176F-7263-D187-7B64-942F6DE4E70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27B8306-891D-5A00-89B0-DCF704274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F9459B1C-2863-A4A1-BBCF-89807E2141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275BDF-2EF6-4A1C-85BE-F4C05D0D46E0}" type="slidenum">
              <a:rPr lang="en-US" altLang="id-ID"/>
              <a:pPr/>
              <a:t>11</a:t>
            </a:fld>
            <a:endParaRPr lang="en-US" altLang="id-ID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5049DFC-D732-034C-3028-B98B0737A3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C209FC0-6C85-0285-4747-5040E3570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49B0C06-0858-714A-2096-72BC4C6EB4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598A43-D5FB-42D6-AACC-105722A97286}" type="slidenum">
              <a:rPr lang="en-US" altLang="id-ID"/>
              <a:pPr/>
              <a:t>12</a:t>
            </a:fld>
            <a:endParaRPr lang="en-US" altLang="id-ID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FBDE78A-514E-3077-831D-C2E5A25A5AC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194A00E-0721-5478-3FF5-F042C5BA6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7164D705-3039-0E20-E265-2CBA600839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085C21-B4D8-4010-9390-CD108794BD13}" type="slidenum">
              <a:rPr lang="en-US" altLang="id-ID"/>
              <a:pPr/>
              <a:t>13</a:t>
            </a:fld>
            <a:endParaRPr lang="en-US" altLang="id-ID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2E2B735-2D9B-21C3-E1F9-2546B7657F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806B7AF9-ABF5-7D2A-1213-FCE3A8D64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A9CECC19-DCE5-5E83-6369-C8F7B43D5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78A7DB-ECB3-499E-B5CA-D188AA87DA5C}" type="slidenum">
              <a:rPr lang="en-US" altLang="id-ID"/>
              <a:pPr/>
              <a:t>14</a:t>
            </a:fld>
            <a:endParaRPr lang="en-US" altLang="id-ID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D9C54CA-3149-D567-31DB-C0E8C758EB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34AB198-1DB0-5894-727F-20B31C113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5370E72-95D1-A02C-4D53-638C9391A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8465BA-EDC2-474D-B2A7-4DD33C021AC5}" type="slidenum">
              <a:rPr lang="en-US" altLang="id-ID"/>
              <a:pPr/>
              <a:t>15</a:t>
            </a:fld>
            <a:endParaRPr lang="en-US" altLang="id-ID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6D45335-D955-F648-97BA-7EC7CF04CAC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4CC54FB-8B89-B6A9-C792-097741C6A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74EC81AA-A68B-8335-729B-25908FFC12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8023BD-1743-4274-956F-B2B6AAA4609D}" type="slidenum">
              <a:rPr lang="en-US" altLang="id-ID"/>
              <a:pPr/>
              <a:t>16</a:t>
            </a:fld>
            <a:endParaRPr lang="en-US" altLang="id-ID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1186571-85D9-6D25-DAB4-EB3281829F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58B21745-E996-3DEE-EDEE-782FF15E2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9295DF07-76BA-23A0-045D-7435FAC07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700EC5-0B8B-410D-BF06-8A6E5A25DE93}" type="slidenum">
              <a:rPr lang="en-US" altLang="id-ID"/>
              <a:pPr/>
              <a:t>17</a:t>
            </a:fld>
            <a:endParaRPr lang="en-US" altLang="id-ID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2C267AC-C9F6-3E46-8AF8-81A2D9A4CD8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19D193DC-7691-9E1E-7F34-CA62FAD98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60C8C668-F931-A239-F88A-EC133542A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05496C-4721-4697-ABE5-ED9D5629FA65}" type="slidenum">
              <a:rPr lang="en-US" altLang="id-ID"/>
              <a:pPr/>
              <a:t>18</a:t>
            </a:fld>
            <a:endParaRPr lang="en-US" altLang="id-ID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973B9E7-93BB-3656-D6F6-2B52480E6B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363DB891-4DA6-8154-A51B-51B43C5F4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C6F2B751-951C-FB99-2A92-5EEDEEE865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17669D-989C-4CEC-87C3-11462BFADEA6}" type="slidenum">
              <a:rPr lang="en-US" altLang="id-ID"/>
              <a:pPr/>
              <a:t>19</a:t>
            </a:fld>
            <a:endParaRPr lang="en-US" altLang="id-ID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0F46425-CDD6-9049-E665-008310B4EA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55AC9DE-4A05-A05A-512E-326AE4DA3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EE32356F-FCE1-3928-FDAF-CA6C4CF4B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5971C5-9EF2-4D8A-A8BE-3CA21803F66B}" type="slidenum">
              <a:rPr lang="en-US" altLang="id-ID"/>
              <a:pPr/>
              <a:t>20</a:t>
            </a:fld>
            <a:endParaRPr lang="en-US" altLang="id-ID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ACF27AC-7FA3-9E25-0CDA-ACBA535829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D5A7693-E8E9-6862-FFEE-2B914AA7A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5637EA3-E095-2F5E-221C-E2CAFA9C4D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CFA94B-84A0-428E-A5D8-B5EE2D6FEB97}" type="slidenum">
              <a:rPr lang="en-US" altLang="id-ID"/>
              <a:pPr/>
              <a:t>21</a:t>
            </a:fld>
            <a:endParaRPr lang="en-US" altLang="id-ID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22138BB-3BE2-BE60-3143-2B11A014E2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7B1C2F4-A4EF-A673-5E6C-624CCCF84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4426151B-5336-A425-5376-780CE09F9D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4A80A-E8C6-4905-8C5F-B1836ADE6324}" type="slidenum">
              <a:rPr lang="en-US" altLang="id-ID"/>
              <a:pPr/>
              <a:t>22</a:t>
            </a:fld>
            <a:endParaRPr lang="en-US" altLang="id-ID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F82B73F-ED3A-7D50-DDEB-DBB80C5BF2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775E7D8F-FBAA-C649-9B34-13888EF21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6C9B01F3-F874-0D52-D03A-43445ABAEE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F4845D-4519-457C-A653-F23815FEBFFA}" type="slidenum">
              <a:rPr lang="en-US" altLang="id-ID"/>
              <a:pPr/>
              <a:t>23</a:t>
            </a:fld>
            <a:endParaRPr lang="en-US" altLang="id-ID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9A8A5F1-F01A-43D8-1638-655D47066B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A7302A1-6855-E5BA-0C18-E62BFB73C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EBB97378-5A9A-D059-A624-F0E295BA17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93E285-8A9E-4E78-AE53-6CC089D09ADA}" type="slidenum">
              <a:rPr lang="en-US" altLang="id-ID"/>
              <a:pPr/>
              <a:t>24</a:t>
            </a:fld>
            <a:endParaRPr lang="en-US" altLang="id-ID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3735F1F-5E4E-D4A5-4260-DC71101228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CB38C13-0E5B-DF9E-628D-752CBEF09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5EC89AFE-7C2F-8E2D-3397-C0916C0EF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B241D8-B779-490B-B436-809ACBA4778A}" type="slidenum">
              <a:rPr lang="en-US" altLang="id-ID"/>
              <a:pPr/>
              <a:t>25</a:t>
            </a:fld>
            <a:endParaRPr lang="en-US" altLang="id-ID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30C076D-FCAF-08FD-338B-BDB4C65A6D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80DDD597-D367-E664-22B2-40DE1DD98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9B4D2A8-EC48-9B32-11E1-11D837CE71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B500E6-9D20-4693-9204-C21091F073B0}" type="slidenum">
              <a:rPr lang="en-US" altLang="id-ID"/>
              <a:pPr/>
              <a:t>26</a:t>
            </a:fld>
            <a:endParaRPr lang="en-US" altLang="id-ID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BBF34D9C-36EF-889D-24CC-EC46A76C6A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9E52D25-4EF2-56DA-084E-831342BAD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9698FFF-AB83-B04E-8B22-CAC90A6E3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D3008F-8A15-44D7-B7C4-25D3E651C79B}" type="slidenum">
              <a:rPr lang="en-US" altLang="id-ID"/>
              <a:pPr/>
              <a:t>27</a:t>
            </a:fld>
            <a:endParaRPr lang="en-US" altLang="id-ID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4FD48F8-3D9E-1AFE-3FB2-EEB7D0FAA4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FE52B5C-BE59-B3D9-EF61-84F49B11F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5E06161D-6F1B-E9AE-051E-401B8437B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62D5AE-B2DB-4D14-8F7B-C23AF275FD15}" type="slidenum">
              <a:rPr lang="en-US" altLang="id-ID"/>
              <a:pPr/>
              <a:t>28</a:t>
            </a:fld>
            <a:endParaRPr lang="en-US" altLang="id-ID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8844D71C-76E5-3806-1FDB-FC823BC52D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01517C5-1678-112B-29DA-B82EDF1B87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EDCDFE0-CF77-8189-5088-5EDF85CF9A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D31B34-AA04-4568-8B74-E4CF13528F27}" type="slidenum">
              <a:rPr lang="en-US" altLang="id-ID"/>
              <a:pPr/>
              <a:t>29</a:t>
            </a:fld>
            <a:endParaRPr lang="en-US" altLang="id-ID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06A0650-5073-3041-F639-9947EC3E1B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88A0248-3E05-EA13-F4B9-E0ECD23AB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A53A166-A919-C5B3-053A-156E7EFD0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3F114A-2FA9-4616-AF7F-5BA38669D84C}" type="slidenum">
              <a:rPr lang="en-US" altLang="id-ID"/>
              <a:pPr/>
              <a:t>30</a:t>
            </a:fld>
            <a:endParaRPr lang="en-US" altLang="id-ID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0FD8C79-0B6C-1ECF-C229-4ED1746F14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D3AE5AB5-1E4F-33FB-EA63-4E2397CCF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A09D695F-46CC-889E-20B1-6841B8AC50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5058CE-509F-460F-B04E-EE437B7065E2}" type="slidenum">
              <a:rPr lang="en-US" altLang="id-ID"/>
              <a:pPr/>
              <a:t>31</a:t>
            </a:fld>
            <a:endParaRPr lang="en-US" altLang="id-ID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A90D864B-08CB-5D9B-9C45-C7D36648F7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8A52626-B88A-A1BB-F084-4B3B2040F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168E176F-B5A6-759B-BB88-87FA6201A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D2AAC1-0A6A-4544-9F1D-642657E30771}" type="slidenum">
              <a:rPr lang="en-US" altLang="id-ID"/>
              <a:pPr/>
              <a:t>32</a:t>
            </a:fld>
            <a:endParaRPr lang="en-US" altLang="id-ID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6F8E262-0664-F190-B795-8E508B8CF7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CE59FE9E-146E-97E9-7139-B851727BA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302D25EE-C3DD-0A41-E316-E7786DB4BD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713F0F-5D52-4B29-803F-4EDE74C8C8D1}" type="slidenum">
              <a:rPr lang="en-US" altLang="id-ID"/>
              <a:pPr/>
              <a:t>33</a:t>
            </a:fld>
            <a:endParaRPr lang="en-US" altLang="id-ID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837E26E-0A77-125F-C18E-22778D15D1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C103CF3-2CCA-CCF4-6508-FB6A21AEF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759087F1-61A3-F07D-8AE1-8928973E6D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962879-08CB-4834-B5B0-B669CB9B8390}" type="slidenum">
              <a:rPr lang="en-US" altLang="id-ID"/>
              <a:pPr/>
              <a:t>34</a:t>
            </a:fld>
            <a:endParaRPr lang="en-US" altLang="id-ID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D80FDC4-240F-4ADE-8B2A-3F97550B68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1B332199-3C63-A694-4E4B-678852B37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76F44F71-B3AC-824F-8F71-A45996989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CF387D-B49E-41DA-B539-08A86ECB5FA2}" type="slidenum">
              <a:rPr lang="en-US" altLang="id-ID"/>
              <a:pPr/>
              <a:t>35</a:t>
            </a:fld>
            <a:endParaRPr lang="en-US" altLang="id-ID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B6B23526-C54F-CB7A-A034-258FDA5D0B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B60AFFD9-A4DD-D704-B843-9E2C8C6DB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EEB03B84-D4A7-3B0A-3EC5-F3DE54FA74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704FB9-9483-46CE-B142-B2E022FE3DA8}" type="slidenum">
              <a:rPr lang="en-US" altLang="id-ID"/>
              <a:pPr/>
              <a:t>36</a:t>
            </a:fld>
            <a:endParaRPr lang="en-US" altLang="id-ID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FC8B652-49C5-1BC5-A88F-AA6747E8D3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1847083-1911-2504-0CD7-45C0D9E90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9B879385-48AA-C881-D8E0-01FB8757A0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4F21F7-1C89-4EE4-8EE1-9EC19069D2DD}" type="slidenum">
              <a:rPr lang="en-US" altLang="id-ID"/>
              <a:pPr/>
              <a:t>37</a:t>
            </a:fld>
            <a:endParaRPr lang="en-US" altLang="id-ID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7CC1C4DF-940D-D196-A140-910BA94107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9ED405C4-FC40-C9B1-F950-DDA750099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DB7E37A0-12CD-2382-9FAF-B4F45DC16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3A625A-A3B3-4366-8EF8-483564ED69AB}" type="slidenum">
              <a:rPr lang="en-US" altLang="id-ID"/>
              <a:pPr/>
              <a:t>38</a:t>
            </a:fld>
            <a:endParaRPr lang="en-US" altLang="id-ID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161AB85-D946-035B-12C1-54E572F7934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12345E92-77AF-8C59-D785-6EF7708F47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BE698BC4-3FFB-49C0-D7BA-DD576E97A6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65D511-4EFC-4A14-8926-25DCAFA6AFFE}" type="slidenum">
              <a:rPr lang="en-US" altLang="id-ID"/>
              <a:pPr/>
              <a:t>39</a:t>
            </a:fld>
            <a:endParaRPr lang="en-US" altLang="id-ID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97CB8917-D65C-5567-F7C1-30DCF9FEA8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FE32256A-82E3-0FDC-3FB8-C9FDDD42F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2628E0-C857-7EFA-777B-0A8D7739A1A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9C51DC4-68ED-11A2-4CD5-3609776F5B3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BE9B738B-1449-D4AC-C2D3-A5F926E560D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516881E-F4E0-16B6-A8C3-02A112B2BB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310CDC90-D200-7D3F-E49D-2678690BFE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3AADCEF7-5A43-0CC9-E4CE-FC386000FA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514C0A3B-8DF8-6AFB-4E09-8C9BFB3C89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F46A881D-E34B-A224-91ED-AE9DA03B6DC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97C5B497-0BC3-4ACF-2965-D6BD1CFB46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9DAE4766-453E-139C-A3E6-7E417766E9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C98F8AD6-E076-F4D5-920A-8487FBAFC5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036A2B91-4B1F-7D78-7CD5-EAEFBCBB6B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E10F77A8-2354-7AE5-D5D4-CAB2D1ACCE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27A39EE7-0801-7C5D-FBC8-DE121C2CAF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38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2780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1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DE307167-4A12-D3B9-F487-6552EC6AF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title style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D9925D60-1A48-7D5E-8510-5E260BC03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text styles</a:t>
            </a:r>
          </a:p>
          <a:p>
            <a:pPr lvl="1"/>
            <a:r>
              <a:rPr lang="en-US" altLang="id-ID"/>
              <a:t>Second level</a:t>
            </a:r>
          </a:p>
          <a:p>
            <a:pPr lvl="2"/>
            <a:r>
              <a:rPr lang="en-US" altLang="id-ID"/>
              <a:t>Third level</a:t>
            </a:r>
          </a:p>
          <a:p>
            <a:pPr lvl="3"/>
            <a:r>
              <a:rPr lang="en-US" altLang="id-ID"/>
              <a:t>Fourth level</a:t>
            </a:r>
          </a:p>
          <a:p>
            <a:pPr lvl="4"/>
            <a:r>
              <a:rPr lang="en-US" altLang="id-ID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99357D-30C4-A555-2F5C-355D7F3351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id-ID"/>
              <a:t>Pengantar </a:t>
            </a:r>
            <a:br>
              <a:rPr lang="en-US" altLang="id-ID"/>
            </a:br>
            <a:r>
              <a:rPr lang="en-US" altLang="id-ID"/>
              <a:t>Sistem Basis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05DEA4-AB84-C060-8ABC-CB2529E534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id-ID" sz="3600" b="1"/>
              <a:t>Konsep Dasar</a:t>
            </a:r>
            <a:br>
              <a:rPr lang="en-US" altLang="id-ID" sz="4000" b="1"/>
            </a:br>
            <a:endParaRPr lang="en-US" altLang="id-ID" sz="4000" b="1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AC1909F-1A24-D50F-DC79-C8CB4444A0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id-ID" sz="2400" b="1"/>
              <a:t>Pendahuluan</a:t>
            </a:r>
          </a:p>
          <a:p>
            <a:pPr lvl="1" eaLnBrk="1" hangingPunct="1"/>
            <a:r>
              <a:rPr lang="en-US" altLang="id-ID" sz="2400" b="1"/>
              <a:t>Sistem berkas</a:t>
            </a:r>
            <a:r>
              <a:rPr lang="en-US" altLang="id-ID" sz="2400"/>
              <a:t> atau pengarsipan adalah 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d-ID" sz="2400"/>
              <a:t>	Suatu system untuk mengetahui bagaimana cara menyimpan data dari file tertentu dan organisasi file yang digunakan.</a:t>
            </a:r>
          </a:p>
          <a:p>
            <a:pPr lvl="1" eaLnBrk="1" hangingPunct="1"/>
            <a:r>
              <a:rPr lang="en-US" altLang="id-ID" sz="2400" b="1"/>
              <a:t>Sistem akses</a:t>
            </a:r>
            <a:r>
              <a:rPr lang="en-US" altLang="id-ID" sz="2400"/>
              <a:t> 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d-ID" sz="2400"/>
              <a:t>	Cara untuk mengambil informasi dari suatu file</a:t>
            </a:r>
          </a:p>
          <a:p>
            <a:pPr lvl="1" eaLnBrk="1" hangingPunct="1"/>
            <a:r>
              <a:rPr lang="en-US" altLang="id-ID" sz="2400" b="1"/>
              <a:t>Organisasi file</a:t>
            </a:r>
            <a:r>
              <a:rPr lang="en-US" altLang="id-ID" sz="2400"/>
              <a:t> 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d-ID" sz="2400"/>
              <a:t>	Teknik yang digunakan untuk menggambarkan dan menyimpan pada file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AE3326D7-C071-ED40-3FA4-9AA594EC1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001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SUATU DATA BASE MANAGEMENT SYSTEM (DBMS) TERDIRI DARI SEKUMPULAN DATA YANG SALING BERHUBUNGAN DAN SUATU HIMPUNAN PROGRAM YANG MELAKUKAN AKSES TERHADAP DATA TERSEBUT</a:t>
            </a:r>
          </a:p>
          <a:p>
            <a:pPr algn="just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TUJUAN DARI DBMS YANG PALING UTAMA ADALAH ‘</a:t>
            </a:r>
            <a:r>
              <a:rPr lang="en-US" altLang="id-ID" sz="2400" i="1">
                <a:latin typeface="Tahoma" panose="020B0604030504040204" pitchFamily="34" charset="0"/>
              </a:rPr>
              <a:t>EFFISIENT</a:t>
            </a:r>
            <a:r>
              <a:rPr lang="en-US" altLang="id-ID" sz="2400">
                <a:latin typeface="Tahoma" panose="020B0604030504040204" pitchFamily="34" charset="0"/>
              </a:rPr>
              <a:t>’ DAN ‘</a:t>
            </a:r>
            <a:r>
              <a:rPr lang="en-US" altLang="id-ID" sz="2400" i="1">
                <a:latin typeface="Tahoma" panose="020B0604030504040204" pitchFamily="34" charset="0"/>
              </a:rPr>
              <a:t>CONVENIENT</a:t>
            </a:r>
            <a:r>
              <a:rPr lang="en-US" altLang="id-ID" sz="2400">
                <a:latin typeface="Tahoma" panose="020B0604030504040204" pitchFamily="34" charset="0"/>
              </a:rPr>
              <a:t>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MANAGEMENT DATA MELIBATKAN BAIK STRUKTUR INFORMASI DAN MEKANISME DALAM MELAKUKAN MANIPULASI TERHADAP INFORMASI</a:t>
            </a:r>
            <a:endParaRPr lang="en-US" altLang="id-ID" sz="2400">
              <a:latin typeface="Times New Roman" panose="02020603050405020304" pitchFamily="18" charset="0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E5FDB0FD-87D7-C271-5231-0D5D4BE2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33400"/>
            <a:ext cx="281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b="1">
                <a:latin typeface="Tahoma" panose="020B0604030504040204" pitchFamily="34" charset="0"/>
              </a:rPr>
              <a:t>BASIS DATA</a:t>
            </a:r>
            <a:endParaRPr lang="en-US" altLang="id-ID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8D29B7F8-16B7-7B20-5E84-04768F2C9BC0}"/>
              </a:ext>
            </a:extLst>
          </p:cNvPr>
          <p:cNvSpPr>
            <a:spLocks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d-ID" sz="2000" i="1"/>
              <a:t>DATA</a:t>
            </a:r>
            <a:r>
              <a:rPr lang="en-US" altLang="id-ID" sz="2000"/>
              <a:t>, DATA TERSIMPAN SECARA TERINTEGRASI DAN DIPAKAI SECARA BERSAMA-SAMA</a:t>
            </a:r>
          </a:p>
          <a:p>
            <a:pPr eaLnBrk="1" hangingPunct="1">
              <a:lnSpc>
                <a:spcPct val="80000"/>
              </a:lnSpc>
            </a:pPr>
            <a:endParaRPr lang="en-US" altLang="id-ID" sz="2000"/>
          </a:p>
          <a:p>
            <a:pPr eaLnBrk="1" hangingPunct="1">
              <a:lnSpc>
                <a:spcPct val="80000"/>
              </a:lnSpc>
            </a:pPr>
            <a:r>
              <a:rPr lang="en-US" altLang="id-ID" sz="2000" i="1"/>
              <a:t>HARDWARE</a:t>
            </a:r>
            <a:r>
              <a:rPr lang="en-US" altLang="id-ID" sz="2000"/>
              <a:t>, PERANGKAT KERAS YANG DIGUNAKAN DALAM MENGELOLA SISTEM DATABASE</a:t>
            </a:r>
          </a:p>
          <a:p>
            <a:pPr eaLnBrk="1" hangingPunct="1">
              <a:lnSpc>
                <a:spcPct val="80000"/>
              </a:lnSpc>
            </a:pPr>
            <a:endParaRPr lang="en-US" altLang="id-ID" sz="2000"/>
          </a:p>
          <a:p>
            <a:pPr eaLnBrk="1" hangingPunct="1">
              <a:lnSpc>
                <a:spcPct val="80000"/>
              </a:lnSpc>
            </a:pPr>
            <a:r>
              <a:rPr lang="en-US" altLang="id-ID" sz="2000" i="1"/>
              <a:t>SOFTWARE</a:t>
            </a:r>
            <a:r>
              <a:rPr lang="en-US" altLang="id-ID" sz="2000"/>
              <a:t>, PERANGKAT LUNAK PERANTARA ANTARA PEMAKAI DENGAN DATA FISIK. PERANGKAT LUNAK DAPAT BERUPA DATA BASE MANAGEMENT SYSTEM DAN BERBAGAI PROGRAM APLIKASI</a:t>
            </a:r>
          </a:p>
          <a:p>
            <a:pPr eaLnBrk="1" hangingPunct="1">
              <a:lnSpc>
                <a:spcPct val="80000"/>
              </a:lnSpc>
            </a:pPr>
            <a:endParaRPr lang="en-US" altLang="id-ID" sz="2000"/>
          </a:p>
          <a:p>
            <a:pPr eaLnBrk="1" hangingPunct="1">
              <a:lnSpc>
                <a:spcPct val="80000"/>
              </a:lnSpc>
            </a:pPr>
            <a:r>
              <a:rPr lang="en-US" altLang="id-ID" sz="2000" i="1"/>
              <a:t>USER</a:t>
            </a:r>
            <a:r>
              <a:rPr lang="en-US" altLang="id-ID" sz="2000"/>
              <a:t>, SEBAGAI PEMAKAI SISTEM</a:t>
            </a:r>
          </a:p>
          <a:p>
            <a:pPr>
              <a:lnSpc>
                <a:spcPct val="8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en-US" altLang="id-ID" sz="2400">
              <a:latin typeface="Times New Roman" panose="02020603050405020304" pitchFamily="18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ABBBB15D-8CD0-83CA-71D9-A1C997411D9C}"/>
              </a:ext>
            </a:extLst>
          </p:cNvPr>
          <p:cNvSpPr>
            <a:spLocks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id-ID" b="1"/>
              <a:t>KOMPONEN BASIS 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3D9EF2-0E22-6A56-A77F-ADAFAF39C7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041400"/>
          </a:xfrm>
        </p:spPr>
        <p:txBody>
          <a:bodyPr/>
          <a:lstStyle/>
          <a:p>
            <a:pPr eaLnBrk="1" hangingPunct="1"/>
            <a:r>
              <a:rPr lang="id-ID" altLang="id-ID"/>
              <a:t>DATA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9FB83D1-0BD9-D247-6AEF-32D37D11D4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id-ID" altLang="id-ID" sz="2800"/>
              <a:t>Ciri-ciri data didalam database :</a:t>
            </a:r>
          </a:p>
          <a:p>
            <a:pPr eaLnBrk="1" hangingPunct="1"/>
            <a:r>
              <a:rPr lang="id-ID" altLang="id-ID" sz="2800"/>
              <a:t>Data disimpan secara terintegrasi (integrated)</a:t>
            </a:r>
          </a:p>
          <a:p>
            <a:pPr lvl="1" eaLnBrk="1" hangingPunct="1"/>
            <a:r>
              <a:rPr lang="id-ID" altLang="id-ID" sz="2400"/>
              <a:t>Database merupakan kumpulan dari berbagai macam file dari aplikasi-aplikasi yang berbeda, yang disusun dengan cara menghilangkan bagian-bagian yang rangkap (redundant)</a:t>
            </a:r>
          </a:p>
          <a:p>
            <a:pPr eaLnBrk="1" hangingPunct="1"/>
            <a:r>
              <a:rPr lang="id-ID" altLang="id-ID" sz="2800"/>
              <a:t>Data dapat dipakai secara bersama-sama (shared)</a:t>
            </a:r>
          </a:p>
          <a:p>
            <a:pPr lvl="1" eaLnBrk="1" hangingPunct="1"/>
            <a:r>
              <a:rPr lang="id-ID" altLang="id-ID" sz="2400"/>
              <a:t>Masing-masing bagian dari database dapat diakses oleh pemakai dalam waktu yang bersamaan, untuk aplikasi yang berbeda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776C496-1171-ED21-8773-EE9142140D7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id-ID" altLang="id-ID"/>
              <a:t>HARDWARE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51B9F8B-E710-D609-7463-7E5291779E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d-ID" altLang="id-ID" sz="2400"/>
              <a:t>Terdiri dari semua peralatan perangkat keras komputer yang digunakan untuk pengelolaan sistem database berupa:</a:t>
            </a:r>
          </a:p>
          <a:p>
            <a:pPr lvl="1" eaLnBrk="1" hangingPunct="1">
              <a:lnSpc>
                <a:spcPct val="90000"/>
              </a:lnSpc>
            </a:pPr>
            <a:r>
              <a:rPr lang="id-ID" altLang="id-ID" sz="2400"/>
              <a:t>Peralatan untuk penyimpanan database, yaitu secondary storage (harddisk, disket, flash disk, CD)</a:t>
            </a:r>
          </a:p>
          <a:p>
            <a:pPr lvl="1" eaLnBrk="1" hangingPunct="1">
              <a:lnSpc>
                <a:spcPct val="90000"/>
              </a:lnSpc>
            </a:pPr>
            <a:r>
              <a:rPr lang="id-ID" altLang="id-ID" sz="2400"/>
              <a:t>Peralatan input (keyboard, scanner, kamera digital) dan output (printer, layar monitor)</a:t>
            </a:r>
          </a:p>
          <a:p>
            <a:pPr lvl="1" eaLnBrk="1" hangingPunct="1">
              <a:lnSpc>
                <a:spcPct val="90000"/>
              </a:lnSpc>
            </a:pPr>
            <a:r>
              <a:rPr lang="id-ID" altLang="id-ID" sz="2400"/>
              <a:t>Peralatan komunikasi data (ethernet card, modem)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1511DFB-0C83-D913-2524-2C5AD80D16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id-ID" altLang="id-ID"/>
              <a:t>SOFTWARE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1CC2645-5932-8120-1E11-D0E260C927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id-ID" altLang="id-ID" sz="2800"/>
              <a:t>Berfungsi sebagai perantara (interface) antara pemakai dengan data physik pada database.</a:t>
            </a:r>
          </a:p>
          <a:p>
            <a:pPr eaLnBrk="1" hangingPunct="1"/>
            <a:r>
              <a:rPr lang="id-ID" altLang="id-ID" sz="2800"/>
              <a:t>Software pada sistem database dapat berupa:</a:t>
            </a:r>
          </a:p>
          <a:p>
            <a:pPr lvl="1" eaLnBrk="1" hangingPunct="1"/>
            <a:r>
              <a:rPr lang="id-ID" altLang="id-ID" sz="2400"/>
              <a:t>Database Management System (DBMS), yang menangani akses terhadap database, sehingga pemakai tidak perlu memikirkan proses penyimpanan dan pengelolaan data secara detail</a:t>
            </a:r>
          </a:p>
          <a:p>
            <a:pPr lvl="1" eaLnBrk="1" hangingPunct="1"/>
            <a:r>
              <a:rPr lang="id-ID" altLang="id-ID" sz="2400"/>
              <a:t>Program-program aplikasi dan prosedur-prosedur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9AB664F-9775-CA81-417D-10AB4F715AC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id-ID" altLang="id-ID"/>
              <a:t>USER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C7A46F0-B23C-D7BE-26ED-21A7581FD1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id-ID" altLang="id-ID" sz="2800"/>
              <a:t>Pemakai database dibagi atas 3 klasifikasi, yaitu: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id-ID" altLang="id-ID" sz="2400"/>
              <a:t>Database Administrator (DBA), yaitu: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id-ID" altLang="id-ID" sz="2000"/>
              <a:t>Orang/team yang bertugas mengelola sistem database secara keseluruhan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id-ID" altLang="id-ID" sz="2400"/>
              <a:t>Programmer, yaitu: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id-ID" altLang="id-ID" sz="2000"/>
              <a:t>Orang/team yang bertugas membuat program aplikasi yang mengakses database, dengan menggunakan bahasa pemrograman, seperti Clipper, VB, Oracle baik secara batch maupun online untuk berinteraksi dengan komputer 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id-ID" altLang="id-ID" sz="2400"/>
              <a:t>End-user, yaitu: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id-ID" altLang="id-ID" sz="2000"/>
              <a:t>Orang yang mengakses database melalui terminal, dengan menggunakan query-language atau program aplikasi yang dibuatkan oleh programmer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FC1DA320-65CA-DF64-7CFD-2A3878769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7620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sz="2800" b="1">
                <a:latin typeface="Tahoma" panose="020B0604030504040204" pitchFamily="34" charset="0"/>
              </a:rPr>
              <a:t>FILE MANAGEMENT SYSTEM</a:t>
            </a:r>
            <a:endParaRPr lang="en-US" altLang="id-ID" sz="2800">
              <a:latin typeface="Tahoma" panose="020B0604030504040204" pitchFamily="34" charset="0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3B76811B-E229-AFAA-790C-904191F49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447800"/>
            <a:ext cx="51720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PROGRAM ORIENTED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KAKU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REDUNDANCY DAN INCONSISTENCY</a:t>
            </a:r>
            <a:endParaRPr lang="en-US" altLang="id-ID" sz="2400">
              <a:latin typeface="Times New Roman" panose="02020603050405020304" pitchFamily="18" charset="0"/>
            </a:endParaRP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F6955D8A-94BD-1D99-0E50-90CC9F4E2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576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sz="2800" b="1">
                <a:latin typeface="Tahoma" panose="020B0604030504040204" pitchFamily="34" charset="0"/>
              </a:rPr>
              <a:t>DATA BASE MANAGEMENT SISTEM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0516E94A-C1BA-C443-172D-2D91EB5C2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343400"/>
            <a:ext cx="4951413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DATA ORIENTED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LUWES/FLEKSIBEL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KESELARASAN DATA TERKONTROL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695CFCA2-4F83-63AC-1516-A7F0E4DE2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44973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d-ID" altLang="id-ID"/>
              <a:t>PROGRAM ORIENTED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8C2929FD-63B6-EF77-9721-9CB911C61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57600"/>
            <a:ext cx="34813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d-ID" altLang="id-ID"/>
              <a:t>DATA ORIENTED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96DA66A8-2761-9A3B-1F3A-D8429B9B0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37160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d-ID" altLang="id-ID" sz="2000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FEA25940-C14C-E4EF-5874-7ED5C568B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6846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d-ID" altLang="id-ID" sz="2000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685ACD0D-C682-7071-2206-56EAB29B34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600200"/>
            <a:ext cx="7620000" cy="1676400"/>
          </a:xfrm>
        </p:spPr>
        <p:txBody>
          <a:bodyPr anchor="t"/>
          <a:lstStyle/>
          <a:p>
            <a:pPr eaLnBrk="1" hangingPunct="1"/>
            <a:r>
              <a:rPr lang="id-ID" altLang="id-ID" sz="2800"/>
              <a:t>Susunan data di dalam file, distribusi data pada peralatan storage, dan organisasi filenya dipilih sedemikian rupa, sehingga program aplikasi dapat menggunakan secara optimal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E4CFCFB9-3297-5B8B-82C2-8DC76DF7B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343400"/>
            <a:ext cx="7620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d-ID" altLang="id-ID" sz="2800"/>
              <a:t>Susunan data, organisasi file pada database dapat dirubah, begitu pula strategi aksesnya tanpa mengganggu program aplikasi yang sudah 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0A769E36-9FB8-F12A-B865-A18A7B7D1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914400"/>
            <a:ext cx="632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b="1">
                <a:latin typeface="Tahoma" panose="020B0604030504040204" pitchFamily="34" charset="0"/>
              </a:rPr>
              <a:t>TUJUAN SISTEM BASIS DATA</a:t>
            </a:r>
            <a:endParaRPr lang="en-US" altLang="id-ID">
              <a:latin typeface="Tahoma" panose="020B0604030504040204" pitchFamily="34" charset="0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14F9EAFC-1AC2-605A-BF29-D6C77DE3A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05000"/>
            <a:ext cx="8612188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MENCEGAH DATA REDUDANCY DAN INCONSISTENCY</a:t>
            </a: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MEMPERMUDAH DALAM MELAKUKAN AKSES TERHADAP DATA</a:t>
            </a: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MEMPERTIMBANGKAN DATA ISOLATION</a:t>
            </a: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MENCEGAH CONCURENT ACCESS ANOMALY</a:t>
            </a: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id-ID" sz="2400">
                <a:latin typeface="Tahoma" panose="020B0604030504040204" pitchFamily="34" charset="0"/>
              </a:rPr>
              <a:t>MEMPERTIMBANGKAN MASALAH KE-AMANAN DATA</a:t>
            </a:r>
          </a:p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id-ID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2400">
                <a:latin typeface="Tahoma" panose="020B0604030504040204" pitchFamily="34" charset="0"/>
              </a:rPr>
              <a:t>MEMPERTIMBANGKAN MASALAH INTEGRITAS</a:t>
            </a:r>
            <a:endParaRPr lang="en-US" altLang="id-ID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F641D47-0D19-277A-3A47-4FA599E250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2400"/>
              <a:t>KEUNTUNGAN PEMAKAIAN SISTEM BASIS DATA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88EAC51-F055-895E-1C12-7134FECDF76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44958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id-ID" sz="1800" b="1">
                <a:latin typeface="Tahoma" panose="020B0604030504040204" pitchFamily="34" charset="0"/>
              </a:rPr>
              <a:t>MENGURANGI REDUNDANSI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	DATA YANG SAMA PADA BEBERAPA APLIKASI CUKUP DISIMPAN SEKALI SAJA.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2"/>
            </a:pPr>
            <a:r>
              <a:rPr lang="en-US" altLang="id-ID" sz="1800" b="1">
                <a:latin typeface="Tahoma" panose="020B0604030504040204" pitchFamily="34" charset="0"/>
              </a:rPr>
              <a:t>MENGHINDARKAN INKONSISTENSI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id-ID" sz="1600">
                <a:latin typeface="Tahoma" panose="020B0604030504040204" pitchFamily="34" charset="0"/>
              </a:rPr>
              <a:t>	KARENA REDUNDANSI BERKURANG, SEHINGGA UMUMNYA UPDATE HANYA SEKALI SAJA.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3"/>
            </a:pPr>
            <a:r>
              <a:rPr lang="en-US" altLang="id-ID" sz="1800" b="1">
                <a:latin typeface="Tahoma" panose="020B0604030504040204" pitchFamily="34" charset="0"/>
              </a:rPr>
              <a:t>TERPELIHARANYA INTEGRITAS DATA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id-ID" sz="1600">
                <a:latin typeface="Tahoma" panose="020B0604030504040204" pitchFamily="34" charset="0"/>
              </a:rPr>
              <a:t>	DATA TERSIMPAN SECARA AKURAT.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4"/>
            </a:pPr>
            <a:r>
              <a:rPr lang="en-US" altLang="id-ID" sz="1800" b="1">
                <a:latin typeface="Tahoma" panose="020B0604030504040204" pitchFamily="34" charset="0"/>
              </a:rPr>
              <a:t>DATA DAPAT DIPAKAI BERSAMA-SAMA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id-ID" sz="1600">
                <a:latin typeface="Tahoma" panose="020B0604030504040204" pitchFamily="34" charset="0"/>
              </a:rPr>
              <a:t>	DATA YANG SAMA DAPAT DIAKSES OLEH BEBERAPA USER PADA SAAT BERSAMAAN.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5"/>
            </a:pPr>
            <a:r>
              <a:rPr lang="en-US" altLang="id-ID" sz="1800" b="1">
                <a:latin typeface="Tahoma" panose="020B0604030504040204" pitchFamily="34" charset="0"/>
              </a:rPr>
              <a:t>MEMUDAHKAN PENERAPAN STANDARISASI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	MENYANGKUT KESERAGAMAN PENYAJIAN DATA.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6"/>
            </a:pPr>
            <a:r>
              <a:rPr lang="en-US" altLang="id-ID" sz="1800" b="1">
                <a:latin typeface="Tahoma" panose="020B0604030504040204" pitchFamily="34" charset="0"/>
              </a:rPr>
              <a:t>JAMINAN SEKURITI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id-ID" sz="1600">
                <a:latin typeface="Tahoma" panose="020B0604030504040204" pitchFamily="34" charset="0"/>
              </a:rPr>
              <a:t>	DATA HANYA DAPAT DIAKSES OLEH YANG BERHAK.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7"/>
            </a:pPr>
            <a:r>
              <a:rPr lang="en-US" altLang="id-ID" sz="1800" b="1">
                <a:latin typeface="Tahoma" panose="020B0604030504040204" pitchFamily="34" charset="0"/>
              </a:rPr>
              <a:t>MENYEIMBANGKAN KEBUTUHAN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	DAPAT DITENTUKAN PRIORITAS SUATU OPERASI, MISALNYA ANTARA UPDATE (MENGUBAH DATA) DENGAN RETRIEVAL (MENAMPILKAN DATA) DIDAHULUKAN UPDATE.</a:t>
            </a:r>
            <a:endParaRPr lang="en-US" altLang="id-ID" sz="1600"/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 startAt="3"/>
            </a:pPr>
            <a:endParaRPr lang="en-US" altLang="id-ID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090F85B-EECC-F5E6-F8C3-EB7DBFC532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2800"/>
              <a:t>KERUGIAN PEMAKAIAN SISTEM BASIS DATA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CA5C57D-BDC9-7660-BEF2-881FE603C7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id-ID" sz="2800"/>
              <a:t>MAHAL</a:t>
            </a:r>
            <a:endParaRPr lang="id-ID" altLang="id-ID" sz="2800"/>
          </a:p>
          <a:p>
            <a:pPr lvl="1" eaLnBrk="1" hangingPunct="1"/>
            <a:r>
              <a:rPr lang="id-ID" altLang="id-ID" sz="2400"/>
              <a:t>Diperlukan hardware tambahan</a:t>
            </a:r>
          </a:p>
          <a:p>
            <a:pPr lvl="2" eaLnBrk="1" hangingPunct="1"/>
            <a:r>
              <a:rPr lang="id-ID" altLang="id-ID" sz="2000"/>
              <a:t>CPU yang lebih besar</a:t>
            </a:r>
          </a:p>
          <a:p>
            <a:pPr lvl="2" eaLnBrk="1" hangingPunct="1"/>
            <a:r>
              <a:rPr lang="id-ID" altLang="id-ID" sz="2000"/>
              <a:t>Terminal yang lebih banyak</a:t>
            </a:r>
          </a:p>
          <a:p>
            <a:pPr lvl="2" eaLnBrk="1" hangingPunct="1"/>
            <a:r>
              <a:rPr lang="id-ID" altLang="id-ID" sz="2000"/>
              <a:t>Alat untuk komunikasi</a:t>
            </a:r>
          </a:p>
          <a:p>
            <a:pPr lvl="1" eaLnBrk="1" hangingPunct="1"/>
            <a:r>
              <a:rPr lang="id-ID" altLang="id-ID" sz="2400"/>
              <a:t>Biaya performance yang lebih besar</a:t>
            </a:r>
          </a:p>
          <a:p>
            <a:pPr lvl="2" eaLnBrk="1" hangingPunct="1"/>
            <a:r>
              <a:rPr lang="id-ID" altLang="id-ID" sz="2000"/>
              <a:t>Listrik</a:t>
            </a:r>
          </a:p>
          <a:p>
            <a:pPr lvl="2" eaLnBrk="1" hangingPunct="1"/>
            <a:r>
              <a:rPr lang="id-ID" altLang="id-ID" sz="2000"/>
              <a:t>Personil yang lebih tinggi klasifikasinya</a:t>
            </a:r>
          </a:p>
          <a:p>
            <a:pPr lvl="2" eaLnBrk="1" hangingPunct="1"/>
            <a:r>
              <a:rPr lang="id-ID" altLang="id-ID" sz="2000"/>
              <a:t>Biaya telekomunikasi yang antar lokasi / kota</a:t>
            </a:r>
            <a:endParaRPr lang="en-US" altLang="id-ID" sz="2000"/>
          </a:p>
          <a:p>
            <a:pPr eaLnBrk="1" hangingPunct="1"/>
            <a:r>
              <a:rPr lang="en-US" altLang="id-ID" sz="2800"/>
              <a:t>KOMPLEKS</a:t>
            </a:r>
          </a:p>
          <a:p>
            <a:pPr eaLnBrk="1" hangingPunct="1"/>
            <a:r>
              <a:rPr lang="en-US" altLang="id-ID" sz="2800"/>
              <a:t>PROSEDUR BACKUP &amp; RECOVERY SULIT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59FBCB7-DBAF-512B-7B5D-8E0CB1133B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 b="1"/>
              <a:t>Konsep Dasar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C84593A-9914-20C7-F760-6E92B260EA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2875"/>
            <a:ext cx="8229600" cy="5040313"/>
          </a:xfrm>
        </p:spPr>
        <p:txBody>
          <a:bodyPr/>
          <a:lstStyle/>
          <a:p>
            <a:pPr eaLnBrk="1" hangingPunct="1"/>
            <a:r>
              <a:rPr lang="en-US" altLang="id-ID" b="1"/>
              <a:t>Istilah – istilah dasar</a:t>
            </a:r>
          </a:p>
          <a:p>
            <a:pPr lvl="1" eaLnBrk="1" hangingPunct="1"/>
            <a:r>
              <a:rPr lang="en-US" altLang="id-ID" b="1"/>
              <a:t>Entitas</a:t>
            </a:r>
            <a:endParaRPr lang="da-DK" altLang="id-ID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da-DK" altLang="id-ID"/>
              <a:t>	Sekumpulan obyek yang mempunyai karakteristik sama dan bisa dibedakan dari lainnya. </a:t>
            </a:r>
            <a:r>
              <a:rPr lang="en-US" altLang="id-ID"/>
              <a:t>Obyek dapat berupa barang, orang, tempat atau suatu kejadian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d-ID"/>
              <a:t>	Missal : pegawai, mobil, nilai dsb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52B8C38-1E49-D196-CEDF-4E1555B2C5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 b="1"/>
              <a:t>Konsep Dasar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D38A06D-8CBB-5EDF-4A95-51033F9074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3498850"/>
          </a:xfrm>
        </p:spPr>
        <p:txBody>
          <a:bodyPr/>
          <a:lstStyle/>
          <a:p>
            <a:pPr lvl="1" eaLnBrk="1" hangingPunct="1"/>
            <a:r>
              <a:rPr lang="en-US" altLang="id-ID" b="1"/>
              <a:t>Atribut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/>
              <a:t>Deskripsi data yang bisa mengidentifikasikan entitas</a:t>
            </a:r>
            <a:endParaRPr lang="it-IT" altLang="id-ID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it-IT" altLang="id-ID"/>
              <a:t>Misal : entitas mobil adalah no. mobil, merk mobil,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it-IT" altLang="id-ID"/>
              <a:t>            warna mobil dsb.</a:t>
            </a:r>
            <a:endParaRPr lang="en-US" altLang="id-ID"/>
          </a:p>
          <a:p>
            <a:pPr lvl="1" eaLnBrk="1" hangingPunct="1"/>
            <a:r>
              <a:rPr lang="en-US" altLang="id-ID" b="1"/>
              <a:t>Field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/>
              <a:t>Lokasi penyimpanan untuk salah satu elemen data 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/>
              <a:t>atribut</a:t>
            </a:r>
          </a:p>
          <a:p>
            <a:pPr lvl="1" eaLnBrk="1" hangingPunct="1"/>
            <a:r>
              <a:rPr lang="en-US" altLang="id-ID" b="1"/>
              <a:t>Record</a:t>
            </a:r>
            <a:endParaRPr lang="da-DK" altLang="id-ID" b="1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da-DK" altLang="id-ID"/>
              <a:t>Kumpulan dari field yang berhubungan satu sama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da-DK" altLang="id-ID"/>
              <a:t>lain </a:t>
            </a:r>
            <a:endParaRPr lang="en-US" altLang="id-ID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4A7E9D6-A98C-D880-CFCA-0836882B35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 b="1"/>
              <a:t>Konsep Dasar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7EE8C74-DBA4-DACC-EC0E-D20F89822D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d-ID" b="1"/>
              <a:t>File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/>
              <a:t>	Kumpulan dari record yang menggambarkan himpunan Entitas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d-ID"/>
          </a:p>
          <a:p>
            <a:pPr eaLnBrk="1" hangingPunct="1">
              <a:lnSpc>
                <a:spcPct val="90000"/>
              </a:lnSpc>
            </a:pPr>
            <a:r>
              <a:rPr lang="en-US" altLang="id-ID" b="1"/>
              <a:t>Basis Data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/>
              <a:t>	Kumpulan file yang digunakan oleh program aplikasi serta membentuk hubungan tertentu di antara record-record di file-file tersebut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DFEBDBD-9C31-964B-60C5-C47E45AB76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6FC9C90-3238-159B-18BE-C71B26A8EB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id-ID" b="1"/>
              <a:t>Key</a:t>
            </a:r>
          </a:p>
          <a:p>
            <a:pPr lvl="1" eaLnBrk="1" hangingPunct="1"/>
            <a:r>
              <a:rPr lang="en-US" altLang="id-ID"/>
              <a:t>Elemen Record yang dipakai untuk menemukan Record tersebut pada waktu akses</a:t>
            </a:r>
          </a:p>
          <a:p>
            <a:pPr lvl="1" eaLnBrk="1" hangingPunct="1"/>
            <a:r>
              <a:rPr lang="en-US" altLang="id-ID"/>
              <a:t>Jenis-jenis key:</a:t>
            </a:r>
          </a:p>
          <a:p>
            <a:pPr lvl="2" eaLnBrk="1" hangingPunct="1"/>
            <a:r>
              <a:rPr lang="en-US" altLang="id-ID"/>
              <a:t>Primary key</a:t>
            </a:r>
          </a:p>
          <a:p>
            <a:pPr lvl="2" eaLnBrk="1" hangingPunct="1"/>
            <a:r>
              <a:rPr lang="en-US" altLang="id-ID"/>
              <a:t>Secondary key</a:t>
            </a:r>
          </a:p>
          <a:p>
            <a:pPr lvl="2" eaLnBrk="1" hangingPunct="1"/>
            <a:r>
              <a:rPr lang="en-US" altLang="id-ID"/>
              <a:t>Candidate key</a:t>
            </a:r>
          </a:p>
          <a:p>
            <a:pPr lvl="2" eaLnBrk="1" hangingPunct="1"/>
            <a:r>
              <a:rPr lang="en-US" altLang="id-ID"/>
              <a:t>Alternate key</a:t>
            </a:r>
          </a:p>
          <a:p>
            <a:pPr lvl="2" eaLnBrk="1" hangingPunct="1"/>
            <a:r>
              <a:rPr lang="en-US" altLang="id-ID"/>
              <a:t>Composite key</a:t>
            </a:r>
          </a:p>
          <a:p>
            <a:pPr lvl="2" eaLnBrk="1" hangingPunct="1"/>
            <a:r>
              <a:rPr lang="en-US" altLang="id-ID"/>
              <a:t>Foreign key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A25DCBC-E233-7CFF-846B-52D32428CC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D9DF0E8-8A51-021E-0186-899E343E2A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lvl="1" eaLnBrk="1" hangingPunct="1"/>
            <a:r>
              <a:rPr lang="en-US" altLang="id-ID" b="1"/>
              <a:t>Primary key</a:t>
            </a:r>
          </a:p>
          <a:p>
            <a:pPr lvl="2" eaLnBrk="1" hangingPunct="1"/>
            <a:r>
              <a:rPr lang="en-US" altLang="id-ID"/>
              <a:t>Field yang mengidentifikasikan sebuah record dalam file</a:t>
            </a:r>
          </a:p>
          <a:p>
            <a:pPr lvl="2" eaLnBrk="1" hangingPunct="1"/>
            <a:r>
              <a:rPr lang="en-US" altLang="id-ID"/>
              <a:t>Bersifat unik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CA6198AC-6083-5EEC-1D64-E2B88B36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005263"/>
            <a:ext cx="5257800" cy="14747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NIM		NAMA		UMUR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0222500250	TUTI		21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0222300023	WATI		20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0144500024	ALE		24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800" b="1"/>
          </a:p>
        </p:txBody>
      </p:sp>
      <p:sp>
        <p:nvSpPr>
          <p:cNvPr id="39941" name="AutoShape 5">
            <a:extLst>
              <a:ext uri="{FF2B5EF4-FFF2-40B4-BE49-F238E27FC236}">
                <a16:creationId xmlns:a16="http://schemas.microsoft.com/office/drawing/2014/main" id="{32B8E21F-5DC1-B566-885A-1C98D3EB1119}"/>
              </a:ext>
            </a:extLst>
          </p:cNvPr>
          <p:cNvSpPr>
            <a:spLocks/>
          </p:cNvSpPr>
          <p:nvPr/>
        </p:nvSpPr>
        <p:spPr bwMode="auto">
          <a:xfrm>
            <a:off x="3810000" y="3352800"/>
            <a:ext cx="2160588" cy="330200"/>
          </a:xfrm>
          <a:prstGeom prst="accentBorderCallout2">
            <a:avLst>
              <a:gd name="adj1" fmla="val 34616"/>
              <a:gd name="adj2" fmla="val -3528"/>
              <a:gd name="adj3" fmla="val 34616"/>
              <a:gd name="adj4" fmla="val -12491"/>
              <a:gd name="adj5" fmla="val 253106"/>
              <a:gd name="adj6" fmla="val -770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/>
              <a:t>Primari Key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F666E20-406A-7DE3-5A01-88F2E60ABF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958EECB-26E5-DE98-CADF-1D0D61413A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lvl="1" eaLnBrk="1" hangingPunct="1"/>
            <a:r>
              <a:rPr lang="en-US" altLang="id-ID" b="1"/>
              <a:t>Secondary key</a:t>
            </a:r>
          </a:p>
          <a:p>
            <a:pPr lvl="2" eaLnBrk="1" hangingPunct="1"/>
            <a:r>
              <a:rPr lang="en-US" altLang="id-ID"/>
              <a:t>Field yang mengidentifikasikan sebuah record dalam file</a:t>
            </a:r>
          </a:p>
          <a:p>
            <a:pPr lvl="2" eaLnBrk="1" hangingPunct="1"/>
            <a:r>
              <a:rPr lang="en-US" altLang="id-ID"/>
              <a:t>Tidak bersifat unik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65FBCBDD-78E5-A24B-19EE-CC3ACAD43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810000"/>
            <a:ext cx="6769100" cy="17541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NIM		NAMA		UMUR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0222500250	TUTI		21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0222300023	WATI		20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0144500024	ALE		24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800" b="1"/>
          </a:p>
        </p:txBody>
      </p:sp>
      <p:sp>
        <p:nvSpPr>
          <p:cNvPr id="41989" name="AutoShape 5">
            <a:extLst>
              <a:ext uri="{FF2B5EF4-FFF2-40B4-BE49-F238E27FC236}">
                <a16:creationId xmlns:a16="http://schemas.microsoft.com/office/drawing/2014/main" id="{08B3949E-8233-F4D7-05FD-6D003BF60757}"/>
              </a:ext>
            </a:extLst>
          </p:cNvPr>
          <p:cNvSpPr>
            <a:spLocks/>
          </p:cNvSpPr>
          <p:nvPr/>
        </p:nvSpPr>
        <p:spPr bwMode="auto">
          <a:xfrm>
            <a:off x="4800600" y="5638800"/>
            <a:ext cx="1782763" cy="431800"/>
          </a:xfrm>
          <a:prstGeom prst="accentBorderCallout2">
            <a:avLst>
              <a:gd name="adj1" fmla="val 26472"/>
              <a:gd name="adj2" fmla="val -4273"/>
              <a:gd name="adj3" fmla="val 26472"/>
              <a:gd name="adj4" fmla="val -32324"/>
              <a:gd name="adj5" fmla="val -103310"/>
              <a:gd name="adj6" fmla="val -614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/>
              <a:t>Secondary Key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97156A4-7A23-1F8A-5470-CA37CADDF5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8EC04D5-F897-DEEA-C533-F0D6747DA5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4343400"/>
          </a:xfrm>
        </p:spPr>
        <p:txBody>
          <a:bodyPr/>
          <a:lstStyle/>
          <a:p>
            <a:pPr lvl="1" eaLnBrk="1" hangingPunct="1"/>
            <a:r>
              <a:rPr lang="en-US" altLang="id-ID" b="1"/>
              <a:t>Candidate key</a:t>
            </a:r>
          </a:p>
          <a:p>
            <a:pPr lvl="2" eaLnBrk="1" hangingPunct="1"/>
            <a:r>
              <a:rPr lang="en-US" altLang="id-ID"/>
              <a:t>Field-field yang bisa dipilih (dipakai) menjadi primary key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972B81E9-6207-9455-BBDF-2BD5742E8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924175"/>
            <a:ext cx="6840537" cy="1749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	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NIM		NAMA	NO_KWIT	JUMLAH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0222500250	TUTI	789		50000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0222300023	WATI	254		60000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0144500024	ALE	365		80000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800"/>
          </a:p>
        </p:txBody>
      </p:sp>
      <p:grpSp>
        <p:nvGrpSpPr>
          <p:cNvPr id="44037" name="Group 5">
            <a:extLst>
              <a:ext uri="{FF2B5EF4-FFF2-40B4-BE49-F238E27FC236}">
                <a16:creationId xmlns:a16="http://schemas.microsoft.com/office/drawing/2014/main" id="{3ED03ECA-D1E3-A1D0-72A7-C89B68A83BE8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4365625"/>
            <a:ext cx="1944688" cy="1311275"/>
            <a:chOff x="1474" y="2750"/>
            <a:chExt cx="1225" cy="826"/>
          </a:xfrm>
        </p:grpSpPr>
        <p:sp>
          <p:nvSpPr>
            <p:cNvPr id="44038" name="Text Box 6">
              <a:extLst>
                <a:ext uri="{FF2B5EF4-FFF2-40B4-BE49-F238E27FC236}">
                  <a16:creationId xmlns:a16="http://schemas.microsoft.com/office/drawing/2014/main" id="{0C7DE267-1D25-6201-FEF6-EFF9F6A6E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339"/>
              <a:ext cx="1225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d-ID" sz="1800"/>
                <a:t>Candicate key</a:t>
              </a:r>
            </a:p>
          </p:txBody>
        </p:sp>
        <p:sp>
          <p:nvSpPr>
            <p:cNvPr id="44039" name="Line 7">
              <a:extLst>
                <a:ext uri="{FF2B5EF4-FFF2-40B4-BE49-F238E27FC236}">
                  <a16:creationId xmlns:a16="http://schemas.microsoft.com/office/drawing/2014/main" id="{8D4EADA4-A04E-407D-03DF-6A5EB3AD2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750"/>
              <a:ext cx="59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4040" name="Line 8">
              <a:extLst>
                <a:ext uri="{FF2B5EF4-FFF2-40B4-BE49-F238E27FC236}">
                  <a16:creationId xmlns:a16="http://schemas.microsoft.com/office/drawing/2014/main" id="{C750B44F-2FFE-A3ED-619C-4DC7DC741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65" y="2750"/>
              <a:ext cx="499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E79B1C4-3E11-AD5B-2F0F-D13289853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500438"/>
            <a:ext cx="1800225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id-ID" altLang="id-ID" sz="1800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C9F4A0F-2D75-E1DC-2F8A-DBEB86BC7F1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BE96A1E-D493-A7E0-331D-E3DE204B76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495800"/>
          </a:xfrm>
        </p:spPr>
        <p:txBody>
          <a:bodyPr/>
          <a:lstStyle/>
          <a:p>
            <a:pPr lvl="1" eaLnBrk="1" hangingPunct="1"/>
            <a:r>
              <a:rPr lang="en-US" altLang="id-ID" b="1"/>
              <a:t>Composite key</a:t>
            </a:r>
          </a:p>
          <a:p>
            <a:pPr lvl="2" eaLnBrk="1" hangingPunct="1"/>
            <a:r>
              <a:rPr lang="en-US" altLang="id-ID"/>
              <a:t>Primary key yang dibentuk dari beberapa field</a:t>
            </a: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F3380CF5-BFDD-EDD7-567D-48F1AA0E2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636838"/>
            <a:ext cx="6048375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HARI	  RUANG	MATA KULIAH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SELASA	  322		LOGIKA MATEMATIKA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 b="1">
                <a:latin typeface="Tahoma" panose="020B0604030504040204" pitchFamily="34" charset="0"/>
              </a:rPr>
              <a:t>SELASA   321</a:t>
            </a:r>
            <a:r>
              <a:rPr lang="en-US" altLang="id-ID" sz="1800">
                <a:latin typeface="Tahoma" panose="020B0604030504040204" pitchFamily="34" charset="0"/>
              </a:rPr>
              <a:t>		PANCASILA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>
                <a:latin typeface="Tahoma" panose="020B0604030504040204" pitchFamily="34" charset="0"/>
              </a:rPr>
              <a:t>SELASA	  333		KEWARGANEGARAAN</a:t>
            </a:r>
            <a:r>
              <a:rPr lang="en-US" altLang="id-ID" sz="1800" b="1">
                <a:latin typeface="Tahoma" panose="020B0604030504040204" pitchFamily="34" charset="0"/>
              </a:rPr>
              <a:t>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800" b="1"/>
          </a:p>
        </p:txBody>
      </p:sp>
      <p:sp>
        <p:nvSpPr>
          <p:cNvPr id="46086" name="Line 6">
            <a:extLst>
              <a:ext uri="{FF2B5EF4-FFF2-40B4-BE49-F238E27FC236}">
                <a16:creationId xmlns:a16="http://schemas.microsoft.com/office/drawing/2014/main" id="{1D71711B-1710-E7AE-A13F-0416BE20C9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27313" y="3789363"/>
            <a:ext cx="649287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55AB39E6-D67C-A3B2-E7F4-4A12DF0C3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581525"/>
            <a:ext cx="2087562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sz="1800"/>
              <a:t>Composite key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0293097-4C9D-F2A7-D668-2AE9EA1466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FB5A3CA-485C-92F1-7778-9E1B18FC8E1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12875"/>
            <a:ext cx="8435975" cy="4718050"/>
          </a:xfrm>
        </p:spPr>
        <p:txBody>
          <a:bodyPr/>
          <a:lstStyle/>
          <a:p>
            <a:pPr lvl="1" eaLnBrk="1" hangingPunct="1"/>
            <a:r>
              <a:rPr lang="en-US" altLang="id-ID" sz="2400"/>
              <a:t>Foreign key</a:t>
            </a:r>
          </a:p>
          <a:p>
            <a:pPr lvl="2" eaLnBrk="1" hangingPunct="1"/>
            <a:r>
              <a:rPr lang="en-US" altLang="id-ID" sz="2000"/>
              <a:t>Field yang bukan key, tetapi adalah key pada file yang lain.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id-ID" sz="2000"/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412F0800-A09F-89DC-3D07-5C28CF6F2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724400"/>
            <a:ext cx="5975350" cy="1568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Courier New" panose="02070309020205020404" pitchFamily="49" charset="0"/>
              <a:buNone/>
            </a:pPr>
            <a:endParaRPr lang="en-US" altLang="id-ID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 b="1">
                <a:latin typeface="Tahoma" panose="020B0604030504040204" pitchFamily="34" charset="0"/>
              </a:rPr>
              <a:t>KD_MK	MATAKULIAH	SKS	KD_DOSEN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N18	MANAJEMEN	2	D231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P25	PASCAL		4	D453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K1A	INTERNET	2	-	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id-ID" sz="1600"/>
          </a:p>
        </p:txBody>
      </p:sp>
      <p:sp>
        <p:nvSpPr>
          <p:cNvPr id="48133" name="Text Box 5">
            <a:extLst>
              <a:ext uri="{FF2B5EF4-FFF2-40B4-BE49-F238E27FC236}">
                <a16:creationId xmlns:a16="http://schemas.microsoft.com/office/drawing/2014/main" id="{4126A527-964C-BF0D-FAC8-E56B1CE6E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420938"/>
            <a:ext cx="5256212" cy="13239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Courier New" panose="02070309020205020404" pitchFamily="49" charset="0"/>
              <a:buChar char="o"/>
            </a:pPr>
            <a:endParaRPr lang="en-US" altLang="id-ID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 b="1">
                <a:latin typeface="Tahoma" panose="020B0604030504040204" pitchFamily="34" charset="0"/>
              </a:rPr>
              <a:t>KD_DOSEN	NAMA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D232		Warsono, Drs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D453		R. Faisal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600">
                <a:latin typeface="Tahoma" panose="020B0604030504040204" pitchFamily="34" charset="0"/>
              </a:rPr>
              <a:t>D812		Tri Darmadi</a:t>
            </a:r>
            <a:endParaRPr lang="en-US" altLang="id-ID" sz="1600"/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1D66200B-823A-AA48-1DB9-046616BA39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8175" y="37163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590AE30D-E964-427E-4769-F5911BDBC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4508500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48136" name="Text Box 8">
            <a:extLst>
              <a:ext uri="{FF2B5EF4-FFF2-40B4-BE49-F238E27FC236}">
                <a16:creationId xmlns:a16="http://schemas.microsoft.com/office/drawing/2014/main" id="{76C94629-9878-E296-B3A4-739EB344D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124325"/>
            <a:ext cx="172878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sz="1800"/>
              <a:t>Primary key</a:t>
            </a:r>
          </a:p>
        </p:txBody>
      </p:sp>
      <p:sp>
        <p:nvSpPr>
          <p:cNvPr id="48137" name="Text Box 9">
            <a:extLst>
              <a:ext uri="{FF2B5EF4-FFF2-40B4-BE49-F238E27FC236}">
                <a16:creationId xmlns:a16="http://schemas.microsoft.com/office/drawing/2014/main" id="{A79E4238-B8EB-E6C5-66E5-42395ED0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967163"/>
            <a:ext cx="144145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id-ID" sz="1800"/>
              <a:t>Foreign key</a:t>
            </a:r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6CF45FBF-2EF9-CC89-7C4A-C9856AEF0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27347C6-C30C-E726-052A-BA75CA13FE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265A7A3-F0A4-EAA5-E3B2-1D0D84C54AE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id-ID" b="1"/>
              <a:t>FILE</a:t>
            </a:r>
          </a:p>
          <a:p>
            <a:pPr lvl="1" eaLnBrk="1" hangingPunct="1"/>
            <a:r>
              <a:rPr lang="en-US" altLang="id-ID" sz="2400"/>
              <a:t>File diletakkan di penyimpan sekunder. </a:t>
            </a:r>
          </a:p>
          <a:p>
            <a:pPr lvl="1" eaLnBrk="1" hangingPunct="1"/>
            <a:r>
              <a:rPr lang="en-US" altLang="id-ID" sz="2400"/>
              <a:t>File mempunyai nama</a:t>
            </a:r>
          </a:p>
          <a:p>
            <a:pPr lvl="1" eaLnBrk="1" hangingPunct="1"/>
            <a:r>
              <a:rPr lang="en-US" altLang="id-ID" sz="2400"/>
              <a:t>Karakteristik umum file</a:t>
            </a:r>
          </a:p>
          <a:p>
            <a:pPr lvl="2" eaLnBrk="1" hangingPunct="1"/>
            <a:r>
              <a:rPr lang="en-US" altLang="id-ID" sz="2200" b="1"/>
              <a:t>Persistence</a:t>
            </a:r>
            <a:endParaRPr lang="it-IT" altLang="id-ID" sz="2200" b="1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it-IT" altLang="id-ID" sz="2200"/>
              <a:t>	Bertahan lama yaitu kemampuan untuk dapat diakses di masa datang.</a:t>
            </a:r>
            <a:endParaRPr lang="en-US" altLang="id-ID" sz="2200"/>
          </a:p>
          <a:p>
            <a:pPr lvl="2" eaLnBrk="1" hangingPunct="1"/>
            <a:r>
              <a:rPr lang="en-US" altLang="id-ID" sz="2200" b="1"/>
              <a:t>Shareability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 sz="2200"/>
              <a:t>	Dapat digunakan bersama oleh beragam pemakai dan program</a:t>
            </a:r>
          </a:p>
          <a:p>
            <a:pPr lvl="2" eaLnBrk="1" hangingPunct="1"/>
            <a:r>
              <a:rPr lang="en-US" altLang="id-ID" sz="2200" b="1"/>
              <a:t>Size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 sz="2200"/>
              <a:t>	File mempuyai ukuran yang relative besar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AFB7106-D6E1-384E-2D44-32F8787EE8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62BD797-ECAF-3F8A-BE39-B13070CF15D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id-ID" b="1"/>
              <a:t>Operasi pada file / berkas</a:t>
            </a:r>
          </a:p>
          <a:p>
            <a:pPr lvl="1" eaLnBrk="1" hangingPunct="1"/>
            <a:r>
              <a:rPr lang="en-US" altLang="id-ID"/>
              <a:t>Berdasarkan model proses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id-ID"/>
          </a:p>
          <a:p>
            <a:pPr lvl="1" eaLnBrk="1" hangingPunct="1"/>
            <a:r>
              <a:rPr lang="en-US" altLang="id-ID" b="1"/>
              <a:t>Batch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/>
              <a:t>suatu proses yang dilakukan secara kelompok</a:t>
            </a:r>
          </a:p>
          <a:p>
            <a:pPr lvl="1" eaLnBrk="1" hangingPunct="1"/>
            <a:r>
              <a:rPr lang="en-US" altLang="id-ID" b="1"/>
              <a:t>Iterative </a:t>
            </a:r>
            <a:r>
              <a:rPr lang="en-US" altLang="id-ID"/>
              <a:t>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/>
              <a:t>suatu proses yang dilakukan satu per satu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/>
              <a:t>yaitu record per record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0A62597-30E1-5981-E778-08BCBBA180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B9C0AD9-5264-019B-3C1C-79B33AF162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229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d-ID" b="1"/>
              <a:t>Berdasarkan Model operasi 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b="1"/>
              <a:t>Create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/>
              <a:t>	Pembuatan berkas dengan cara membuat struktur berkas lebih dahulu, kemudian record-record dimuat ke dalam berkas tersebut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b="1"/>
              <a:t>Up-date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/>
              <a:t>	Pengubahan isi dari berkas diperlukan untuk menjaga berkas tetap up to date (diperbaharui)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/>
              <a:t>	Ada 3 bagian dalam proses up date :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Insert/Penyisipan atau penambahan record	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Modify/Perbaikan field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Delete/Penghapusan record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95FAB0E-5126-C681-0AD5-DE2D4358FE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0E5E927-3D51-4181-57F9-EA40366475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1910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id-ID" sz="2800" b="1"/>
              <a:t>Retrieval</a:t>
            </a:r>
            <a:endParaRPr lang="da-DK" altLang="id-ID" sz="2800" b="1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da-DK" altLang="id-ID" sz="2800"/>
              <a:t>	Pengaksesan sebuah berkas untuk tujuan mendapatkan informasi</a:t>
            </a:r>
            <a:endParaRPr lang="it-IT" altLang="id-ID" sz="28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d-ID" sz="2800"/>
              <a:t>	Menurut ada tidaknya persyaratan, retrieval dibagi menjadi</a:t>
            </a:r>
            <a:endParaRPr lang="en-US" altLang="id-ID" sz="2800"/>
          </a:p>
          <a:p>
            <a:pPr marL="1131888" lvl="2" indent="-438150" eaLnBrk="1" hangingPunct="1">
              <a:lnSpc>
                <a:spcPct val="90000"/>
              </a:lnSpc>
            </a:pPr>
            <a:r>
              <a:rPr lang="en-US" altLang="id-ID" sz="2200" b="1"/>
              <a:t>Comprehensive retrieval</a:t>
            </a:r>
          </a:p>
          <a:p>
            <a:pPr marL="1131888" lvl="2" indent="-4381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200"/>
              <a:t>	Proses untuk mendapatkan informasi dari semua record dalam berkas</a:t>
            </a:r>
          </a:p>
          <a:p>
            <a:pPr marL="1370013" lvl="3" indent="-381000" eaLnBrk="1" hangingPunct="1">
              <a:lnSpc>
                <a:spcPct val="90000"/>
              </a:lnSpc>
            </a:pPr>
            <a:r>
              <a:rPr lang="en-US" altLang="id-ID" sz="1800" b="1"/>
              <a:t>Misal : display all, list nama alamat</a:t>
            </a:r>
          </a:p>
          <a:p>
            <a:pPr marL="1131888" lvl="2" indent="-438150" eaLnBrk="1" hangingPunct="1">
              <a:lnSpc>
                <a:spcPct val="90000"/>
              </a:lnSpc>
            </a:pPr>
            <a:r>
              <a:rPr lang="en-US" altLang="id-ID" sz="2200" b="1"/>
              <a:t>Selective retrieval</a:t>
            </a:r>
          </a:p>
          <a:p>
            <a:pPr marL="1131888" lvl="2" indent="-4381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200"/>
              <a:t>	Mendapatkan informasi dari record-record tertentu berdasarkan persyaratan tertentu</a:t>
            </a:r>
            <a:endParaRPr lang="da-DK" altLang="id-ID" sz="2200"/>
          </a:p>
          <a:p>
            <a:pPr marL="1370013" lvl="3" indent="-381000" eaLnBrk="1" hangingPunct="1">
              <a:lnSpc>
                <a:spcPct val="90000"/>
              </a:lnSpc>
            </a:pPr>
            <a:r>
              <a:rPr lang="da-DK" altLang="id-ID" sz="1800" b="1"/>
              <a:t>Misal : list for program studi == ‘TI’</a:t>
            </a:r>
            <a:endParaRPr lang="en-US" altLang="id-ID" sz="18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F3B633B-9815-A0A3-3C44-A8138098E7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83A126A-0623-6F81-5AC4-3F65A9A808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2875"/>
            <a:ext cx="8229600" cy="5184775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altLang="id-ID" sz="2000" b="1"/>
              <a:t>Maintenance</a:t>
            </a: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000"/>
              <a:t>	Perubahan yang dibuat terhadap berkas dengan tujuan memperbaiki program dalam mengakses berkas tersebut. Ada dua cara yaitu :</a:t>
            </a:r>
          </a:p>
          <a:p>
            <a:pPr marL="839788" lvl="1" indent="-495300" eaLnBrk="1" hangingPunct="1">
              <a:lnSpc>
                <a:spcPct val="80000"/>
              </a:lnSpc>
            </a:pPr>
            <a:r>
              <a:rPr lang="en-US" altLang="id-ID" sz="2000" b="1"/>
              <a:t>Restructuring</a:t>
            </a:r>
          </a:p>
          <a:p>
            <a:pPr marL="839788" lvl="1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000"/>
              <a:t>	Perubahan struktur berkas</a:t>
            </a:r>
          </a:p>
          <a:p>
            <a:pPr marL="839788" lvl="1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000"/>
              <a:t>	Misalnya :  Panjang field diubah</a:t>
            </a:r>
          </a:p>
          <a:p>
            <a:pPr marL="839788" lvl="1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000"/>
              <a:t>			     Penambahan field baru</a:t>
            </a:r>
          </a:p>
          <a:p>
            <a:pPr marL="839788" lvl="1" indent="-495300" eaLnBrk="1" hangingPunct="1">
              <a:lnSpc>
                <a:spcPct val="80000"/>
              </a:lnSpc>
            </a:pPr>
            <a:r>
              <a:rPr lang="en-US" altLang="id-ID" sz="2000" b="1"/>
              <a:t>Reorganizing</a:t>
            </a:r>
          </a:p>
          <a:p>
            <a:pPr marL="839788" lvl="1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000"/>
              <a:t>	Perubahan organisasi berkas dari organisasi yang satu menjadi organisasi berkas yang lain</a:t>
            </a:r>
          </a:p>
          <a:p>
            <a:pPr marL="839788" lvl="1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000"/>
              <a:t>	Misalnya : </a:t>
            </a:r>
          </a:p>
          <a:p>
            <a:pPr marL="1131888" lvl="2" indent="-438150" eaLnBrk="1" hangingPunct="1">
              <a:lnSpc>
                <a:spcPct val="80000"/>
              </a:lnSpc>
            </a:pPr>
            <a:r>
              <a:rPr lang="en-US" altLang="id-ID" sz="2000"/>
              <a:t>dari organisasi berkas sequential menjadi berkas sequential diindeks</a:t>
            </a:r>
          </a:p>
          <a:p>
            <a:pPr marL="1131888" lvl="2" indent="-438150" eaLnBrk="1" hangingPunct="1">
              <a:lnSpc>
                <a:spcPct val="80000"/>
              </a:lnSpc>
            </a:pPr>
            <a:r>
              <a:rPr lang="en-US" altLang="id-ID" sz="2000"/>
              <a:t>dari langsung (direct) menjadi sequential (berurutan)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405D849-32AB-0F0D-E014-DBF68AE6AC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152D8A1-32D1-2971-EAB6-7EF59DB746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2875"/>
            <a:ext cx="8229600" cy="5040313"/>
          </a:xfrm>
        </p:spPr>
        <p:txBody>
          <a:bodyPr/>
          <a:lstStyle/>
          <a:p>
            <a:pPr marL="533400" indent="-533400" eaLnBrk="1" hangingPunct="1"/>
            <a:r>
              <a:rPr lang="en-US" altLang="id-ID" sz="2000" b="1" u="sng"/>
              <a:t>RECORD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	Ukuran record biasa dinyatakan dalam byte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	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	Jenis record menurut panjangnya :</a:t>
            </a:r>
          </a:p>
          <a:p>
            <a:pPr marL="839788" lvl="1" indent="-495300" eaLnBrk="1" hangingPunct="1"/>
            <a:r>
              <a:rPr lang="en-US" altLang="id-ID" sz="2000" b="1"/>
              <a:t>Fixed length record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	Semua field di record mempunyai panjang yang tetap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		Kelebihan: tidak rumit dalam pemrograman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		Kekurangan: harus disediakan ukuran terbesar yang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 sz="2000"/>
              <a:t>                                   diperlukan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56F185A-D52A-806A-9AB7-55AE534F0BB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4230CF81-5953-6B33-7951-0C9240FEE2B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839788" lvl="1" indent="-495300" eaLnBrk="1" hangingPunct="1"/>
            <a:r>
              <a:rPr lang="en-US" altLang="id-ID" b="1"/>
              <a:t>Variable length record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id-ID"/>
              <a:t>	Field-field di record mempunyai        panjang berbeda-beda</a:t>
            </a:r>
            <a:endParaRPr lang="da-DK" altLang="id-ID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da-DK" altLang="id-ID"/>
              <a:t>		Kelebihan	: hemat tempat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da-DK" altLang="id-ID"/>
              <a:t>		Kekurangan: rumit dalam pemrogaman</a:t>
            </a:r>
            <a:endParaRPr lang="en-US" altLang="id-ID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16E8BF-3C5B-B115-CCE0-E383A413CA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AAB6C9A-6E58-5895-836B-F4CC12EC2F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25538"/>
            <a:ext cx="8229600" cy="5399087"/>
          </a:xfrm>
        </p:spPr>
        <p:txBody>
          <a:bodyPr/>
          <a:lstStyle/>
          <a:p>
            <a:pPr eaLnBrk="1" hangingPunct="1"/>
            <a:r>
              <a:rPr lang="en-US" altLang="id-ID"/>
              <a:t>Record View</a:t>
            </a:r>
          </a:p>
          <a:p>
            <a:pPr lvl="1" eaLnBrk="1" hangingPunct="1"/>
            <a:r>
              <a:rPr lang="en-US" altLang="id-ID"/>
              <a:t>External View</a:t>
            </a:r>
          </a:p>
          <a:p>
            <a:pPr lvl="2" eaLnBrk="1" hangingPunct="1"/>
            <a:r>
              <a:rPr lang="en-US" altLang="id-ID"/>
              <a:t>Bentuk record yang terlihat oleh user</a:t>
            </a:r>
          </a:p>
          <a:p>
            <a:pPr lvl="2" eaLnBrk="1" hangingPunct="1"/>
            <a:r>
              <a:rPr lang="en-US" altLang="id-ID"/>
              <a:t>Disebut juga logical record</a:t>
            </a:r>
          </a:p>
          <a:p>
            <a:pPr lvl="1" eaLnBrk="1" hangingPunct="1"/>
            <a:r>
              <a:rPr lang="en-US" altLang="id-ID"/>
              <a:t>Internal View</a:t>
            </a:r>
            <a:endParaRPr lang="it-IT" altLang="id-ID"/>
          </a:p>
          <a:p>
            <a:pPr lvl="2" eaLnBrk="1" hangingPunct="1"/>
            <a:r>
              <a:rPr lang="it-IT" altLang="id-ID"/>
              <a:t>Bentuk record secara fisik di dalam media penyimpanan</a:t>
            </a:r>
            <a:endParaRPr lang="en-US" altLang="id-ID"/>
          </a:p>
          <a:p>
            <a:pPr lvl="2" eaLnBrk="1" hangingPunct="1"/>
            <a:r>
              <a:rPr lang="en-US" altLang="id-ID"/>
              <a:t>Disebut juga physical record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F3C6018-B37A-B4B5-ED4C-C25BD58D53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E151B3F-6765-1517-D77B-1EC56E7E23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25538"/>
            <a:ext cx="8229600" cy="5399087"/>
          </a:xfrm>
        </p:spPr>
        <p:txBody>
          <a:bodyPr/>
          <a:lstStyle/>
          <a:p>
            <a:pPr lvl="2" eaLnBrk="1" hangingPunct="1"/>
            <a:r>
              <a:rPr lang="en-US" altLang="id-ID"/>
              <a:t>Data transfer</a:t>
            </a:r>
            <a:endParaRPr lang="it-IT" altLang="id-ID"/>
          </a:p>
          <a:p>
            <a:pPr lvl="3" eaLnBrk="1" hangingPunct="1"/>
            <a:r>
              <a:rPr lang="it-IT" altLang="id-ID"/>
              <a:t>Perpindahan data antara primar storage dengan secondary storage</a:t>
            </a:r>
          </a:p>
          <a:p>
            <a:pPr lvl="2" eaLnBrk="1" hangingPunct="1"/>
            <a:endParaRPr lang="it-IT" altLang="id-ID"/>
          </a:p>
          <a:p>
            <a:pPr lvl="2" eaLnBrk="1" hangingPunct="1"/>
            <a:endParaRPr lang="it-IT" altLang="id-ID"/>
          </a:p>
          <a:p>
            <a:pPr lvl="3" eaLnBrk="1" hangingPunct="1"/>
            <a:r>
              <a:rPr lang="en-US" altLang="id-ID"/>
              <a:t>Tidak hanya memindahkan 1 (satu) logical record, tetapi 1 (satu) block</a:t>
            </a:r>
          </a:p>
          <a:p>
            <a:pPr lvl="3" eaLnBrk="1" hangingPunct="1"/>
            <a:r>
              <a:rPr lang="en-US" altLang="id-ID"/>
              <a:t>1 block bisa &gt; 1 record</a:t>
            </a:r>
          </a:p>
          <a:p>
            <a:pPr lvl="3" eaLnBrk="1" hangingPunct="1"/>
            <a:r>
              <a:rPr lang="en-US" altLang="id-ID"/>
              <a:t>block disebut juga physical record</a:t>
            </a:r>
          </a:p>
        </p:txBody>
      </p:sp>
      <p:grpSp>
        <p:nvGrpSpPr>
          <p:cNvPr id="66564" name="Group 4">
            <a:extLst>
              <a:ext uri="{FF2B5EF4-FFF2-40B4-BE49-F238E27FC236}">
                <a16:creationId xmlns:a16="http://schemas.microsoft.com/office/drawing/2014/main" id="{E70C3290-547D-CBEE-AF7F-4B14781B3BC1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2133600"/>
            <a:ext cx="4175125" cy="600075"/>
            <a:chOff x="884" y="3385"/>
            <a:chExt cx="2903" cy="378"/>
          </a:xfrm>
        </p:grpSpPr>
        <p:sp>
          <p:nvSpPr>
            <p:cNvPr id="66576" name="Text Box 5">
              <a:extLst>
                <a:ext uri="{FF2B5EF4-FFF2-40B4-BE49-F238E27FC236}">
                  <a16:creationId xmlns:a16="http://schemas.microsoft.com/office/drawing/2014/main" id="{5506484C-638A-BDF1-6AED-5BA4C5D74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475"/>
              <a:ext cx="85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d-ID" sz="1400" b="1"/>
                <a:t>PRIMARY STORAGE</a:t>
              </a:r>
            </a:p>
          </p:txBody>
        </p:sp>
        <p:sp>
          <p:nvSpPr>
            <p:cNvPr id="66577" name="Text Box 6">
              <a:extLst>
                <a:ext uri="{FF2B5EF4-FFF2-40B4-BE49-F238E27FC236}">
                  <a16:creationId xmlns:a16="http://schemas.microsoft.com/office/drawing/2014/main" id="{92ABFCF5-DFAC-388F-F10F-8CDB730C6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0" y="3475"/>
              <a:ext cx="937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d-ID" sz="1400" b="1"/>
                <a:t>SECONDARY STORAGE</a:t>
              </a:r>
            </a:p>
          </p:txBody>
        </p:sp>
        <p:sp>
          <p:nvSpPr>
            <p:cNvPr id="66578" name="Line 7">
              <a:extLst>
                <a:ext uri="{FF2B5EF4-FFF2-40B4-BE49-F238E27FC236}">
                  <a16:creationId xmlns:a16="http://schemas.microsoft.com/office/drawing/2014/main" id="{3F795833-58DA-34AE-358B-2083F8997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2" y="3624"/>
              <a:ext cx="11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66579" name="Text Box 8">
              <a:extLst>
                <a:ext uri="{FF2B5EF4-FFF2-40B4-BE49-F238E27FC236}">
                  <a16:creationId xmlns:a16="http://schemas.microsoft.com/office/drawing/2014/main" id="{A47DD49B-F803-E44C-B9CB-D2D92433F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3385"/>
              <a:ext cx="59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id-ID" sz="1600" b="1"/>
                <a:t>data</a:t>
              </a:r>
            </a:p>
          </p:txBody>
        </p:sp>
      </p:grpSp>
      <p:grpSp>
        <p:nvGrpSpPr>
          <p:cNvPr id="66565" name="Group 9">
            <a:extLst>
              <a:ext uri="{FF2B5EF4-FFF2-40B4-BE49-F238E27FC236}">
                <a16:creationId xmlns:a16="http://schemas.microsoft.com/office/drawing/2014/main" id="{C31C78B1-5F50-DC35-CB02-FFD2D551BEA5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4581525"/>
            <a:ext cx="6408738" cy="1800225"/>
            <a:chOff x="3057" y="10409"/>
            <a:chExt cx="7200" cy="2121"/>
          </a:xfrm>
        </p:grpSpPr>
        <p:sp>
          <p:nvSpPr>
            <p:cNvPr id="66566" name="Text Box 10">
              <a:extLst>
                <a:ext uri="{FF2B5EF4-FFF2-40B4-BE49-F238E27FC236}">
                  <a16:creationId xmlns:a16="http://schemas.microsoft.com/office/drawing/2014/main" id="{C740C5A2-59D2-8B0E-ED64-8CA5B65CE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" y="11810"/>
              <a:ext cx="14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d-ID" sz="1200"/>
                <a:t>PRIMARY STORAGE</a:t>
              </a:r>
              <a:endParaRPr lang="en-US" altLang="id-ID" sz="1800"/>
            </a:p>
          </p:txBody>
        </p:sp>
        <p:sp>
          <p:nvSpPr>
            <p:cNvPr id="66567" name="Text Box 11">
              <a:extLst>
                <a:ext uri="{FF2B5EF4-FFF2-40B4-BE49-F238E27FC236}">
                  <a16:creationId xmlns:a16="http://schemas.microsoft.com/office/drawing/2014/main" id="{F708532D-0158-FF95-A2F1-411E4ADF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7" y="11724"/>
              <a:ext cx="180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d-ID" sz="1200"/>
                <a:t>SECONDARY STORAGE</a:t>
              </a:r>
              <a:endParaRPr lang="en-US" altLang="id-ID" sz="1800"/>
            </a:p>
          </p:txBody>
        </p:sp>
        <p:sp>
          <p:nvSpPr>
            <p:cNvPr id="66568" name="Oval 12">
              <a:extLst>
                <a:ext uri="{FF2B5EF4-FFF2-40B4-BE49-F238E27FC236}">
                  <a16:creationId xmlns:a16="http://schemas.microsoft.com/office/drawing/2014/main" id="{E98BCD11-AB09-B30D-4D10-75D9C47CB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7" y="10409"/>
              <a:ext cx="2340" cy="10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d-ID" sz="1800"/>
                <a:t>Data Transfer</a:t>
              </a:r>
            </a:p>
          </p:txBody>
        </p:sp>
        <p:sp>
          <p:nvSpPr>
            <p:cNvPr id="66569" name="Text Box 13">
              <a:extLst>
                <a:ext uri="{FF2B5EF4-FFF2-40B4-BE49-F238E27FC236}">
                  <a16:creationId xmlns:a16="http://schemas.microsoft.com/office/drawing/2014/main" id="{D9FBE7A2-6473-8C19-E812-1153FE075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7" y="11948"/>
              <a:ext cx="1800" cy="4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id-ID" sz="1200"/>
                <a:t>DATA AREA</a:t>
              </a:r>
              <a:endParaRPr lang="en-US" altLang="id-ID" sz="1800"/>
            </a:p>
          </p:txBody>
        </p:sp>
        <p:sp>
          <p:nvSpPr>
            <p:cNvPr id="66570" name="Line 14">
              <a:extLst>
                <a:ext uri="{FF2B5EF4-FFF2-40B4-BE49-F238E27FC236}">
                  <a16:creationId xmlns:a16="http://schemas.microsoft.com/office/drawing/2014/main" id="{B7E75A45-1522-128E-07F6-59A8DA06F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12111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66571" name="Line 15">
              <a:extLst>
                <a:ext uri="{FF2B5EF4-FFF2-40B4-BE49-F238E27FC236}">
                  <a16:creationId xmlns:a16="http://schemas.microsoft.com/office/drawing/2014/main" id="{B0C9A3DF-527A-B6C3-7E8C-B5DF90F47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7" y="12111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66572" name="Line 16">
              <a:extLst>
                <a:ext uri="{FF2B5EF4-FFF2-40B4-BE49-F238E27FC236}">
                  <a16:creationId xmlns:a16="http://schemas.microsoft.com/office/drawing/2014/main" id="{7671A28C-CBD8-9CA5-2927-473C6D2FC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7" y="10984"/>
              <a:ext cx="1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66573" name="Line 17">
              <a:extLst>
                <a:ext uri="{FF2B5EF4-FFF2-40B4-BE49-F238E27FC236}">
                  <a16:creationId xmlns:a16="http://schemas.microsoft.com/office/drawing/2014/main" id="{585835B0-62E3-C6B2-5B7C-D798FD689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7" y="10977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66574" name="Line 18">
              <a:extLst>
                <a:ext uri="{FF2B5EF4-FFF2-40B4-BE49-F238E27FC236}">
                  <a16:creationId xmlns:a16="http://schemas.microsoft.com/office/drawing/2014/main" id="{F5357726-64A2-701B-9330-728DCF1CC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7" y="11059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66575" name="Line 19">
              <a:extLst>
                <a:ext uri="{FF2B5EF4-FFF2-40B4-BE49-F238E27FC236}">
                  <a16:creationId xmlns:a16="http://schemas.microsoft.com/office/drawing/2014/main" id="{D29D0C6F-E6C0-A053-3413-333465DF9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1052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11EC367-EB16-5879-5FBF-8EFEAC0B59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35A3CB23-671A-4B39-1A6A-E56B472D9D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id-ID"/>
              <a:t>Input Buffer</a:t>
            </a:r>
          </a:p>
          <a:p>
            <a:pPr lvl="1" eaLnBrk="1" hangingPunct="1"/>
            <a:r>
              <a:rPr lang="en-US" altLang="id-ID"/>
              <a:t>Tempat 1 block disimpan didalam memory</a:t>
            </a:r>
          </a:p>
          <a:p>
            <a:pPr eaLnBrk="1" hangingPunct="1"/>
            <a:r>
              <a:rPr lang="en-US" altLang="id-ID"/>
              <a:t>Output Buffer</a:t>
            </a:r>
          </a:p>
          <a:p>
            <a:pPr lvl="1" eaLnBrk="1" hangingPunct="1"/>
            <a:r>
              <a:rPr lang="da-DK" altLang="id-ID"/>
              <a:t>Tempat 1 block yang akan direkam ke storage media</a:t>
            </a:r>
            <a:endParaRPr lang="en-US" altLang="id-ID"/>
          </a:p>
          <a:p>
            <a:pPr eaLnBrk="1" hangingPunct="1"/>
            <a:r>
              <a:rPr lang="en-US" altLang="id-ID"/>
              <a:t>Data Area</a:t>
            </a:r>
          </a:p>
          <a:p>
            <a:pPr lvl="1" eaLnBrk="1" hangingPunct="1"/>
            <a:r>
              <a:rPr lang="en-US" altLang="id-ID"/>
              <a:t>Tempat 1 logical record yang akan diproses</a:t>
            </a:r>
          </a:p>
          <a:p>
            <a:pPr eaLnBrk="1" hangingPunct="1"/>
            <a:endParaRPr lang="en-US" altLang="id-ID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6635028-E05B-E623-3FB0-D28BB08936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5FC00496-D82E-9ABA-4B27-9C27C01827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43000"/>
            <a:ext cx="8229600" cy="5165725"/>
          </a:xfrm>
        </p:spPr>
        <p:txBody>
          <a:bodyPr/>
          <a:lstStyle/>
          <a:p>
            <a:pPr eaLnBrk="1" hangingPunct="1"/>
            <a:r>
              <a:rPr lang="en-US" altLang="id-ID" sz="2000" b="1"/>
              <a:t>LOGICAL FILE STRUCTURE</a:t>
            </a:r>
          </a:p>
          <a:p>
            <a:pPr lvl="1" eaLnBrk="1" hangingPunct="1"/>
            <a:r>
              <a:rPr lang="en-US" altLang="id-ID" sz="2000" b="1"/>
              <a:t>Adalah:</a:t>
            </a:r>
          </a:p>
          <a:p>
            <a:pPr lvl="2" eaLnBrk="1" hangingPunct="1"/>
            <a:r>
              <a:rPr lang="en-US" altLang="id-ID" sz="2000" b="1"/>
              <a:t>Organisasi file</a:t>
            </a:r>
          </a:p>
          <a:p>
            <a:pPr lvl="2" eaLnBrk="1" hangingPunct="1"/>
            <a:r>
              <a:rPr lang="en-US" altLang="id-ID" sz="2000" b="1"/>
              <a:t>External View</a:t>
            </a:r>
          </a:p>
          <a:p>
            <a:pPr lvl="2" eaLnBrk="1" hangingPunct="1"/>
            <a:r>
              <a:rPr lang="en-US" altLang="id-ID" sz="2000" b="1"/>
              <a:t>Kumpulan logical record</a:t>
            </a:r>
          </a:p>
          <a:p>
            <a:pPr lvl="2" eaLnBrk="1" hangingPunct="1"/>
            <a:r>
              <a:rPr lang="en-US" altLang="id-ID" sz="2000" b="1"/>
              <a:t>Pandangan user tentang bagaimana kumpulan logical record terorganisir</a:t>
            </a:r>
          </a:p>
          <a:p>
            <a:pPr eaLnBrk="1" hangingPunct="1"/>
            <a:r>
              <a:rPr lang="en-US" altLang="id-ID" sz="2000" b="1"/>
              <a:t>PHYSICAL FILE STRUCTURE</a:t>
            </a:r>
          </a:p>
          <a:p>
            <a:pPr lvl="1" eaLnBrk="1" hangingPunct="1"/>
            <a:r>
              <a:rPr lang="en-US" altLang="id-ID" sz="2000" b="1"/>
              <a:t>Adalah:</a:t>
            </a:r>
          </a:p>
          <a:p>
            <a:pPr lvl="2" eaLnBrk="1" hangingPunct="1"/>
            <a:r>
              <a:rPr lang="en-US" altLang="id-ID" sz="2000" b="1"/>
              <a:t>Internal View</a:t>
            </a:r>
          </a:p>
          <a:p>
            <a:pPr lvl="2" eaLnBrk="1" hangingPunct="1"/>
            <a:r>
              <a:rPr lang="en-US" altLang="id-ID" sz="2000" b="1"/>
              <a:t>Kumpulan physical record</a:t>
            </a:r>
          </a:p>
          <a:p>
            <a:pPr lvl="2" eaLnBrk="1" hangingPunct="1"/>
            <a:r>
              <a:rPr lang="en-US" altLang="id-ID" sz="2000" b="1"/>
              <a:t>Letak/susunan physical record pada secondary storage</a:t>
            </a:r>
            <a:r>
              <a:rPr lang="en-US" altLang="id-ID" sz="2000"/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94ED1F0-CFB7-B5C9-5077-DC899C846BB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3D260F9-A8CC-4170-9BD6-887548BB7DE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id-ID" b="1"/>
              <a:t>JENIS FILE (Berdasarkan fungsinya</a:t>
            </a:r>
            <a:r>
              <a:rPr lang="en-US" altLang="id-ID"/>
              <a:t>):</a:t>
            </a:r>
          </a:p>
          <a:p>
            <a:pPr lvl="1" eaLnBrk="1" hangingPunct="1"/>
            <a:r>
              <a:rPr lang="en-US" altLang="id-ID" b="1"/>
              <a:t>MASTER FILE</a:t>
            </a:r>
          </a:p>
          <a:p>
            <a:pPr lvl="1" eaLnBrk="1" hangingPunct="1"/>
            <a:r>
              <a:rPr lang="en-US" altLang="id-ID" b="1"/>
              <a:t>TRANSACTION FILE</a:t>
            </a:r>
          </a:p>
          <a:p>
            <a:pPr lvl="1" eaLnBrk="1" hangingPunct="1"/>
            <a:r>
              <a:rPr lang="en-US" altLang="id-ID" b="1"/>
              <a:t>REPORT FILE</a:t>
            </a:r>
          </a:p>
          <a:p>
            <a:pPr lvl="1" eaLnBrk="1" hangingPunct="1"/>
            <a:r>
              <a:rPr lang="en-US" altLang="id-ID" b="1"/>
              <a:t>WORK FILE</a:t>
            </a:r>
          </a:p>
          <a:p>
            <a:pPr lvl="1" eaLnBrk="1" hangingPunct="1"/>
            <a:r>
              <a:rPr lang="en-US" altLang="id-ID" b="1"/>
              <a:t>PROGRAM FILE</a:t>
            </a:r>
          </a:p>
          <a:p>
            <a:pPr lvl="1" eaLnBrk="1" hangingPunct="1"/>
            <a:r>
              <a:rPr lang="en-US" altLang="id-ID" b="1"/>
              <a:t>TEXT FILE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d-ID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951FBE4E-98FB-C9DA-5874-31ACCBA1E7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FCDBD4A-90F0-5524-D4B7-8FC6200BD0B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981200"/>
            <a:ext cx="7715250" cy="3886200"/>
          </a:xfrm>
        </p:spPr>
        <p:txBody>
          <a:bodyPr/>
          <a:lstStyle/>
          <a:p>
            <a:pPr eaLnBrk="1" hangingPunct="1"/>
            <a:r>
              <a:rPr lang="en-US" altLang="id-ID" sz="2800"/>
              <a:t>MASTER FILE</a:t>
            </a:r>
          </a:p>
          <a:p>
            <a:pPr lvl="1" eaLnBrk="1" hangingPunct="1"/>
            <a:r>
              <a:rPr lang="en-US" altLang="id-ID" sz="2400"/>
              <a:t>Adalah:</a:t>
            </a:r>
          </a:p>
          <a:p>
            <a:pPr lvl="2" eaLnBrk="1" hangingPunct="1"/>
            <a:r>
              <a:rPr lang="en-US" altLang="id-ID" sz="2000"/>
              <a:t>Berisi data statis</a:t>
            </a:r>
          </a:p>
          <a:p>
            <a:pPr lvl="2" eaLnBrk="1" hangingPunct="1"/>
            <a:r>
              <a:rPr lang="it-IT" altLang="id-ID" sz="2000"/>
              <a:t>Data tentang satu sisi dari organisasi</a:t>
            </a:r>
            <a:endParaRPr lang="en-US" altLang="id-ID" sz="2000"/>
          </a:p>
          <a:p>
            <a:pPr lvl="2" eaLnBrk="1" hangingPunct="1"/>
            <a:r>
              <a:rPr lang="en-US" altLang="id-ID" sz="2000"/>
              <a:t>Berisi data historis</a:t>
            </a:r>
          </a:p>
          <a:p>
            <a:pPr lvl="2" eaLnBrk="1" hangingPunct="1"/>
            <a:r>
              <a:rPr lang="en-US" altLang="id-ID" sz="2000"/>
              <a:t>Isinya relatif permanen</a:t>
            </a:r>
          </a:p>
        </p:txBody>
      </p:sp>
      <p:sp>
        <p:nvSpPr>
          <p:cNvPr id="74756" name="Text Box 4">
            <a:extLst>
              <a:ext uri="{FF2B5EF4-FFF2-40B4-BE49-F238E27FC236}">
                <a16:creationId xmlns:a16="http://schemas.microsoft.com/office/drawing/2014/main" id="{13DEB6A0-B98C-9465-37D0-448C86533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005263"/>
            <a:ext cx="5832475" cy="739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400" b="1">
                <a:latin typeface="Tahoma" panose="020B0604030504040204" pitchFamily="34" charset="0"/>
              </a:rPr>
              <a:t>PELANGGAN		PERSEDIAAN BARANG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400" b="1">
                <a:latin typeface="Tahoma" panose="020B0604030504040204" pitchFamily="34" charset="0"/>
              </a:rPr>
              <a:t>PEGAWAI			NILAI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400" b="1">
                <a:latin typeface="Tahoma" panose="020B0604030504040204" pitchFamily="34" charset="0"/>
              </a:rPr>
              <a:t>MAHASISWA		MATAKULIAH	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4CF1B51-C79D-29A8-FA44-06C34EE6BC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94EE28D-D36A-C9E1-678F-DE66357C87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268413"/>
            <a:ext cx="8229600" cy="5040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d-ID" sz="2800"/>
              <a:t>TRANSACTION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2400"/>
              <a:t>Adalah: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2200"/>
              <a:t>Berisi data yang akan mengupdate master file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2200"/>
              <a:t>Berisi kejadian atau perubahan terhadap sesuatu, yang statusnya tersimpan dalam master file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d-ID" sz="2800"/>
              <a:t>REPORT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2400"/>
              <a:t>Adalah: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2200"/>
              <a:t>Berisi data yang bentuknya telah disesuaikan untuk kepentingan user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d-ID" sz="2200"/>
              <a:t>Data yang akan ditampilkan pada monitor</a:t>
            </a:r>
            <a:endParaRPr lang="en-US" altLang="id-ID" sz="2200"/>
          </a:p>
          <a:p>
            <a:pPr lvl="2" eaLnBrk="1" hangingPunct="1">
              <a:lnSpc>
                <a:spcPct val="90000"/>
              </a:lnSpc>
            </a:pPr>
            <a:r>
              <a:rPr lang="en-US" altLang="id-ID" sz="2200"/>
              <a:t>Data yang akan dicetak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2200"/>
              <a:t>Dihasilkan oleh: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 sz="1800"/>
              <a:t>Report writer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 sz="1800"/>
              <a:t>Application program</a:t>
            </a:r>
          </a:p>
          <a:p>
            <a:pPr eaLnBrk="1" hangingPunct="1">
              <a:lnSpc>
                <a:spcPct val="90000"/>
              </a:lnSpc>
            </a:pPr>
            <a:endParaRPr lang="en-US" altLang="id-ID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AF1001F5-5FDC-1668-A897-3B37DE72E3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57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C674E39D-7040-AA7B-5281-701B471350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id-ID"/>
              <a:t>WORK FILE</a:t>
            </a:r>
          </a:p>
          <a:p>
            <a:pPr lvl="1" eaLnBrk="1" hangingPunct="1"/>
            <a:r>
              <a:rPr lang="en-US" altLang="id-ID"/>
              <a:t>Adalah:</a:t>
            </a:r>
          </a:p>
          <a:p>
            <a:pPr lvl="2" eaLnBrk="1" hangingPunct="1"/>
            <a:r>
              <a:rPr lang="en-US" altLang="id-ID"/>
              <a:t>Temporary file</a:t>
            </a:r>
          </a:p>
          <a:p>
            <a:pPr lvl="2" eaLnBrk="1" hangingPunct="1"/>
            <a:r>
              <a:rPr lang="en-US" altLang="id-ID"/>
              <a:t>File sementara</a:t>
            </a:r>
          </a:p>
          <a:p>
            <a:pPr lvl="2" eaLnBrk="1" hangingPunct="1"/>
            <a:r>
              <a:rPr lang="en-US" altLang="id-ID"/>
              <a:t>File kerja</a:t>
            </a:r>
          </a:p>
          <a:p>
            <a:pPr lvl="2" eaLnBrk="1" hangingPunct="1"/>
            <a:r>
              <a:rPr lang="en-US" altLang="id-ID"/>
              <a:t>Berisi sesuatu yang tidak permanen</a:t>
            </a:r>
          </a:p>
          <a:p>
            <a:pPr lvl="2" eaLnBrk="1" hangingPunct="1"/>
            <a:r>
              <a:rPr lang="en-US" altLang="id-ID"/>
              <a:t>Isinya hanya dipakai sesaat saja</a:t>
            </a:r>
          </a:p>
          <a:p>
            <a:pPr lvl="2" eaLnBrk="1" hangingPunct="1"/>
            <a:r>
              <a:rPr lang="en-US" altLang="id-ID"/>
              <a:t>Untuk memindahkan data dari satu program ke program yang lain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C3BF7AE-8A15-9FDB-DEE7-A72202DE17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79127A9-D1D2-06C0-6BAC-DD13DFDF72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d-ID"/>
              <a:t>PROGRAM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/>
              <a:t>Adalah: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/>
              <a:t>Berisi perintah untuk memproses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/>
              <a:t>Bisa berisi perintah dalam: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High Level Language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Low Level Language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Machine Language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Job Control Language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/>
              <a:t>Perintah bisa berbentuk: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Source Code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Hasil Kompilasi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/>
              <a:t>Hasil proses lainnya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4764468-BAB3-E58B-21DF-68B10F6A16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d-ID" sz="4000"/>
              <a:t>Konsep Dasar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09923223-B204-41C1-8891-9D92078FD7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id-ID"/>
              <a:t>TEXT FILE</a:t>
            </a:r>
          </a:p>
          <a:p>
            <a:pPr lvl="1" eaLnBrk="1" hangingPunct="1"/>
            <a:r>
              <a:rPr lang="en-US" altLang="id-ID"/>
              <a:t>Berisi:</a:t>
            </a:r>
          </a:p>
          <a:p>
            <a:pPr lvl="2" eaLnBrk="1" hangingPunct="1"/>
            <a:r>
              <a:rPr lang="en-US" altLang="id-ID"/>
              <a:t>ALPHANUMERIC &amp; GRAPHIC DATA</a:t>
            </a:r>
          </a:p>
          <a:p>
            <a:pPr lvl="1" eaLnBrk="1" hangingPunct="1"/>
            <a:r>
              <a:rPr lang="en-US" altLang="id-ID"/>
              <a:t>Berasal dari program text editor</a:t>
            </a:r>
          </a:p>
          <a:p>
            <a:pPr lvl="1" eaLnBrk="1" hangingPunct="1"/>
            <a:r>
              <a:rPr lang="en-US" altLang="id-ID"/>
              <a:t>Hanya dapat diproses oleh program text editor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d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78</TotalTime>
  <Words>1832</Words>
  <Application>Microsoft Office PowerPoint</Application>
  <PresentationFormat>On-screen Show (4:3)</PresentationFormat>
  <Paragraphs>392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Wingdings</vt:lpstr>
      <vt:lpstr>Times New Roman</vt:lpstr>
      <vt:lpstr>Tahoma</vt:lpstr>
      <vt:lpstr>Symbol</vt:lpstr>
      <vt:lpstr>Courier New</vt:lpstr>
      <vt:lpstr>Pixel</vt:lpstr>
      <vt:lpstr>Pengantar  Sistem Basis Data</vt:lpstr>
      <vt:lpstr>Konsep Dasar </vt:lpstr>
      <vt:lpstr>PowerPoint Presentation</vt:lpstr>
      <vt:lpstr>KOMPONEN BASIS  DATA</vt:lpstr>
      <vt:lpstr>DATA</vt:lpstr>
      <vt:lpstr>HARDWARE</vt:lpstr>
      <vt:lpstr>SOFTWARE</vt:lpstr>
      <vt:lpstr>USER</vt:lpstr>
      <vt:lpstr>PowerPoint Presentation</vt:lpstr>
      <vt:lpstr>Susunan data di dalam file, distribusi data pada peralatan storage, dan organisasi filenya dipilih sedemikian rupa, sehingga program aplikasi dapat menggunakan secara optimal</vt:lpstr>
      <vt:lpstr>PowerPoint Presentation</vt:lpstr>
      <vt:lpstr>KEUNTUNGAN PEMAKAIAN SISTEM BASIS DATA</vt:lpstr>
      <vt:lpstr>KERUGIAN PEMAKAIAN SISTEM BASIS DATA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  <vt:lpstr>Konsep Dasar</vt:lpstr>
    </vt:vector>
  </TitlesOfParts>
  <Company>University of Budi Luhur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Sistem Basis Data</dc:title>
  <dc:creator>Joko Sutrisno</dc:creator>
  <cp:lastModifiedBy>Kamal Ilham</cp:lastModifiedBy>
  <cp:revision>14</cp:revision>
  <dcterms:created xsi:type="dcterms:W3CDTF">2008-08-22T11:52:31Z</dcterms:created>
  <dcterms:modified xsi:type="dcterms:W3CDTF">2026-05-16T01:45:01Z</dcterms:modified>
</cp:coreProperties>
</file>